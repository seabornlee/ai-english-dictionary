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7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slides/slide18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1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Arial"/>
              </a:rPr>
              <a:t>保守场景（单位: USD）</a:t>
            </a:r>
            <a:endParaRPr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总收入</c:v>
                </c:pt>
              </c:strCache>
            </c:strRef>
          </c:tx>
          <c:spPr bwMode="auto">
            <a:prstGeom prst="rect">
              <a:avLst/>
            </a:prstGeom>
            <a:solidFill>
              <a:srgbClr val="0EA5E9"/>
            </a:solidFill>
            <a:effectLst/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7500</c:v>
                </c:pt>
                <c:pt idx="1">
                  <c:v>41000</c:v>
                </c:pt>
                <c:pt idx="2">
                  <c:v>140000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总成本</c:v>
                </c:pt>
              </c:strCache>
            </c:strRef>
          </c:tx>
          <c:spPr bwMode="auto">
            <a:prstGeom prst="rect">
              <a:avLst/>
            </a:prstGeom>
            <a:solidFill>
              <a:srgbClr val="94A3B8"/>
            </a:solidFill>
            <a:effectLst/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3400</c:v>
                </c:pt>
                <c:pt idx="1">
                  <c:v>11200</c:v>
                </c:pt>
                <c:pt idx="2">
                  <c:v>57000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净利润</c:v>
                </c:pt>
              </c:strCache>
            </c:strRef>
          </c:tx>
          <c:spPr bwMode="auto">
            <a:prstGeom prst="rect">
              <a:avLst/>
            </a:prstGeom>
            <a:solidFill>
              <a:srgbClr val="10B981"/>
            </a:solidFill>
            <a:effectLst/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4100</c:v>
                </c:pt>
                <c:pt idx="1">
                  <c:v>29800</c:v>
                </c:pt>
                <c:pt idx="2">
                  <c:v>83000</c:v>
                </c:pt>
              </c:numCache>
            </c:numRef>
          </c:val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0"/>
          <c:txPr>
            <a:bodyPr/>
            <a:lstStyle/>
            <a:p>
              <a:pPr>
                <a:defRPr sz="1200" b="0" i="0" u="none" strike="noStrike">
                  <a:solidFill>
                    <a:srgbClr val="000000"/>
                  </a:solidFill>
                  <a:latin typeface="Arial"/>
                </a:defRPr>
              </a:pPr>
              <a:endParaRPr/>
            </a:p>
          </c:txPr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  <c:showDLblsOverMax val="0"/>
  </c:chart>
  <c:spPr bwMode="auto">
    <a:xfrm rot="0">
      <a:off x="457200" y="1005840"/>
      <a:ext cx="4572000" cy="2926080"/>
    </a:xfrm>
    <a:prstGeom prst="rect">
      <a:avLst/>
    </a:prstGeom>
    <a:solidFill>
      <a:srgbClr val="FFFFFF"/>
    </a:solidFill>
    <a:ln>
      <a:noFill/>
    </a:ln>
    <a:effectLst/>
  </c:spPr>
  <c:externalData r:id="rId1">
    <c:autoUpdate val="1"/>
  </c:externalData>
</c:chartSpace>
</file>

<file path=ppt/embeddings/_rels/Microsoft_Excel_Worksheet1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43901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9578742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65183215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8065604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0964623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499279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9115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6180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59307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8639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27050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53858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120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8169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044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994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711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72974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1233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95340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43850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2001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09340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9664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33588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7821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0919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489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23875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61468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9509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6845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3274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743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98920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08014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297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4157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4854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0146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2992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4267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791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88495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4547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5087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9285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38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07109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7141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17749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8204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4629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34101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1879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0240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91851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3212C9-CCD1-80E7-5BBD-D1DB9A3981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3679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1483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3980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976389" name="Shape 0"/>
          <p:cNvSpPr/>
          <p:nvPr/>
        </p:nvSpPr>
        <p:spPr bwMode="auto"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78820656" name="Text 1"/>
          <p:cNvSpPr/>
          <p:nvPr/>
        </p:nvSpPr>
        <p:spPr bwMode="auto"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600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FEASIBILITY ANALYSIS REPORT</a:t>
            </a:r>
            <a:endParaRPr lang="en-US" sz="1300"/>
          </a:p>
        </p:txBody>
      </p:sp>
      <p:sp>
        <p:nvSpPr>
          <p:cNvPr id="1517503014" name="Text 2"/>
          <p:cNvSpPr/>
          <p:nvPr/>
        </p:nvSpPr>
        <p:spPr bwMode="auto"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AI English Dictionary</a:t>
            </a:r>
            <a:endParaRPr lang="en-US" sz="4400"/>
          </a:p>
        </p:txBody>
      </p:sp>
      <p:sp>
        <p:nvSpPr>
          <p:cNvPr id="1430731888" name="Text 3"/>
          <p:cNvSpPr/>
          <p:nvPr/>
        </p:nvSpPr>
        <p:spPr bwMode="auto"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AI英英词典项目可行性分析报告</a:t>
            </a:r>
            <a:endParaRPr lang="en-US" sz="2200"/>
          </a:p>
        </p:txBody>
      </p:sp>
      <p:sp>
        <p:nvSpPr>
          <p:cNvPr id="77404079" name="Shape 4"/>
          <p:cNvSpPr/>
          <p:nvPr/>
        </p:nvSpPr>
        <p:spPr bwMode="auto">
          <a:xfrm>
            <a:off x="731520" y="3383280"/>
            <a:ext cx="22860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5536220" name="Text 5"/>
          <p:cNvSpPr/>
          <p:nvPr/>
        </p:nvSpPr>
        <p:spPr bwMode="auto">
          <a:xfrm>
            <a:off x="731520" y="35661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400" i="1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Learn without translations</a:t>
            </a:r>
            <a:endParaRPr lang="en-US" sz="1400"/>
          </a:p>
          <a:p>
            <a:pPr marL="0" indent="0">
              <a:buNone/>
              <a:defRPr/>
            </a:pPr>
            <a:br>
              <a:rPr lang="en-US" sz="800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endParaRPr lang="en-US" sz="1400"/>
          </a:p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分析日期：2026年4月6日    版本：v1.0</a:t>
            </a:r>
            <a:endParaRPr lang="en-US" sz="1400"/>
          </a:p>
        </p:txBody>
      </p:sp>
      <p:sp>
        <p:nvSpPr>
          <p:cNvPr id="1317772947" name="Shape 6"/>
          <p:cNvSpPr/>
          <p:nvPr/>
        </p:nvSpPr>
        <p:spPr bwMode="auto">
          <a:xfrm>
            <a:off x="0" y="4892039"/>
            <a:ext cx="9144000" cy="251460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1F5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5887151" name="Text 0"/>
          <p:cNvSpPr/>
          <p:nvPr/>
        </p:nvSpPr>
        <p:spPr bwMode="auto"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报告纲要</a:t>
            </a:r>
            <a:endParaRPr lang="en-US" sz="2800"/>
          </a:p>
        </p:txBody>
      </p:sp>
      <p:sp>
        <p:nvSpPr>
          <p:cNvPr id="1853227169" name="Shape 1"/>
          <p:cNvSpPr/>
          <p:nvPr/>
        </p:nvSpPr>
        <p:spPr bwMode="auto">
          <a:xfrm>
            <a:off x="731520" y="914400"/>
            <a:ext cx="1371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704717128" name="Shape 2"/>
          <p:cNvSpPr/>
          <p:nvPr/>
        </p:nvSpPr>
        <p:spPr bwMode="auto">
          <a:xfrm>
            <a:off x="731520" y="1225296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848576490" name="Text 3"/>
          <p:cNvSpPr/>
          <p:nvPr/>
        </p:nvSpPr>
        <p:spPr bwMode="auto">
          <a:xfrm>
            <a:off x="731520" y="1225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100"/>
          </a:p>
        </p:txBody>
      </p:sp>
      <p:sp>
        <p:nvSpPr>
          <p:cNvPr id="1716226197" name="Text 4"/>
          <p:cNvSpPr/>
          <p:nvPr/>
        </p:nvSpPr>
        <p:spPr bwMode="auto">
          <a:xfrm>
            <a:off x="1280160" y="1188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执行摘要</a:t>
            </a:r>
            <a:endParaRPr lang="en-US" sz="1500"/>
          </a:p>
        </p:txBody>
      </p:sp>
      <p:sp>
        <p:nvSpPr>
          <p:cNvPr id="918902973" name="Text 5"/>
          <p:cNvSpPr/>
          <p:nvPr/>
        </p:nvSpPr>
        <p:spPr bwMode="auto">
          <a:xfrm>
            <a:off x="1280160" y="14264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项目概述与核心结论</a:t>
            </a:r>
            <a:endParaRPr lang="en-US" sz="1100"/>
          </a:p>
        </p:txBody>
      </p:sp>
      <p:sp>
        <p:nvSpPr>
          <p:cNvPr id="448013408" name="Shape 6"/>
          <p:cNvSpPr/>
          <p:nvPr/>
        </p:nvSpPr>
        <p:spPr bwMode="auto">
          <a:xfrm>
            <a:off x="731520" y="1755648"/>
            <a:ext cx="365760" cy="36576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33612209" name="Text 7"/>
          <p:cNvSpPr/>
          <p:nvPr/>
        </p:nvSpPr>
        <p:spPr bwMode="auto">
          <a:xfrm>
            <a:off x="73152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100"/>
          </a:p>
        </p:txBody>
      </p:sp>
      <p:sp>
        <p:nvSpPr>
          <p:cNvPr id="1450100677" name="Text 8"/>
          <p:cNvSpPr/>
          <p:nvPr/>
        </p:nvSpPr>
        <p:spPr bwMode="auto">
          <a:xfrm>
            <a:off x="1280160" y="1719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市场分析</a:t>
            </a:r>
            <a:endParaRPr lang="en-US" sz="1500"/>
          </a:p>
        </p:txBody>
      </p:sp>
      <p:sp>
        <p:nvSpPr>
          <p:cNvPr id="1226242523" name="Text 9"/>
          <p:cNvSpPr/>
          <p:nvPr/>
        </p:nvSpPr>
        <p:spPr bwMode="auto">
          <a:xfrm>
            <a:off x="1280160" y="1956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市场规模、竞争格局、SWOT分析</a:t>
            </a:r>
            <a:endParaRPr lang="en-US" sz="1100"/>
          </a:p>
        </p:txBody>
      </p:sp>
      <p:sp>
        <p:nvSpPr>
          <p:cNvPr id="2022146015" name="Shape 10"/>
          <p:cNvSpPr/>
          <p:nvPr/>
        </p:nvSpPr>
        <p:spPr bwMode="auto">
          <a:xfrm>
            <a:off x="731520" y="2286000"/>
            <a:ext cx="365760" cy="36576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2114272" name="Text 11"/>
          <p:cNvSpPr/>
          <p:nvPr/>
        </p:nvSpPr>
        <p:spPr bwMode="auto">
          <a:xfrm>
            <a:off x="73152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100"/>
          </a:p>
        </p:txBody>
      </p:sp>
      <p:sp>
        <p:nvSpPr>
          <p:cNvPr id="1934059151" name="Text 12"/>
          <p:cNvSpPr/>
          <p:nvPr/>
        </p:nvSpPr>
        <p:spPr bwMode="auto">
          <a:xfrm>
            <a:off x="1280160" y="22494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技术可行性</a:t>
            </a:r>
            <a:endParaRPr lang="en-US" sz="1500"/>
          </a:p>
        </p:txBody>
      </p:sp>
      <p:sp>
        <p:nvSpPr>
          <p:cNvPr id="1583369155" name="Text 13"/>
          <p:cNvSpPr/>
          <p:nvPr/>
        </p:nvSpPr>
        <p:spPr bwMode="auto">
          <a:xfrm>
            <a:off x="1280160" y="24871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技术架构、开发计划、风险评估</a:t>
            </a:r>
            <a:endParaRPr lang="en-US" sz="1100"/>
          </a:p>
        </p:txBody>
      </p:sp>
      <p:sp>
        <p:nvSpPr>
          <p:cNvPr id="523717257" name="Shape 14"/>
          <p:cNvSpPr/>
          <p:nvPr/>
        </p:nvSpPr>
        <p:spPr bwMode="auto">
          <a:xfrm>
            <a:off x="731520" y="2816352"/>
            <a:ext cx="365760" cy="36576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786348825" name="Text 15"/>
          <p:cNvSpPr/>
          <p:nvPr/>
        </p:nvSpPr>
        <p:spPr bwMode="auto">
          <a:xfrm>
            <a:off x="731520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100"/>
          </a:p>
        </p:txBody>
      </p:sp>
      <p:sp>
        <p:nvSpPr>
          <p:cNvPr id="1785079049" name="Text 16"/>
          <p:cNvSpPr/>
          <p:nvPr/>
        </p:nvSpPr>
        <p:spPr bwMode="auto">
          <a:xfrm>
            <a:off x="1280160" y="27797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商业模式</a:t>
            </a:r>
            <a:endParaRPr lang="en-US" sz="1500"/>
          </a:p>
        </p:txBody>
      </p:sp>
      <p:sp>
        <p:nvSpPr>
          <p:cNvPr id="1795201729" name="Text 17"/>
          <p:cNvSpPr/>
          <p:nvPr/>
        </p:nvSpPr>
        <p:spPr bwMode="auto">
          <a:xfrm>
            <a:off x="1280160" y="3017519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收入模式、单位经济、财务预测</a:t>
            </a:r>
            <a:endParaRPr lang="en-US" sz="1100"/>
          </a:p>
        </p:txBody>
      </p:sp>
      <p:sp>
        <p:nvSpPr>
          <p:cNvPr id="122633819" name="Shape 18"/>
          <p:cNvSpPr/>
          <p:nvPr/>
        </p:nvSpPr>
        <p:spPr bwMode="auto">
          <a:xfrm>
            <a:off x="731520" y="3346704"/>
            <a:ext cx="365760" cy="36576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14759766" name="Text 19"/>
          <p:cNvSpPr/>
          <p:nvPr/>
        </p:nvSpPr>
        <p:spPr bwMode="auto">
          <a:xfrm>
            <a:off x="73152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100"/>
          </a:p>
        </p:txBody>
      </p:sp>
      <p:sp>
        <p:nvSpPr>
          <p:cNvPr id="655412557" name="Text 20"/>
          <p:cNvSpPr/>
          <p:nvPr/>
        </p:nvSpPr>
        <p:spPr bwMode="auto">
          <a:xfrm>
            <a:off x="1280160" y="3310127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增长策略</a:t>
            </a:r>
            <a:endParaRPr lang="en-US" sz="1500"/>
          </a:p>
        </p:txBody>
      </p:sp>
      <p:sp>
        <p:nvSpPr>
          <p:cNvPr id="2010298857" name="Text 21"/>
          <p:cNvSpPr/>
          <p:nvPr/>
        </p:nvSpPr>
        <p:spPr bwMode="auto">
          <a:xfrm>
            <a:off x="1280160" y="35478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获客渠道、内容营销、病毒传播</a:t>
            </a:r>
            <a:endParaRPr lang="en-US" sz="1100"/>
          </a:p>
        </p:txBody>
      </p:sp>
      <p:sp>
        <p:nvSpPr>
          <p:cNvPr id="2005946031" name="Shape 22"/>
          <p:cNvSpPr/>
          <p:nvPr/>
        </p:nvSpPr>
        <p:spPr bwMode="auto">
          <a:xfrm>
            <a:off x="731520" y="3877056"/>
            <a:ext cx="365760" cy="36576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48567247" name="Text 23"/>
          <p:cNvSpPr/>
          <p:nvPr/>
        </p:nvSpPr>
        <p:spPr bwMode="auto">
          <a:xfrm>
            <a:off x="731520" y="3877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100"/>
          </a:p>
        </p:txBody>
      </p:sp>
      <p:sp>
        <p:nvSpPr>
          <p:cNvPr id="1111949441" name="Text 24"/>
          <p:cNvSpPr/>
          <p:nvPr/>
        </p:nvSpPr>
        <p:spPr bwMode="auto">
          <a:xfrm>
            <a:off x="1280160" y="3840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实施路线图</a:t>
            </a:r>
            <a:endParaRPr lang="en-US" sz="1500"/>
          </a:p>
        </p:txBody>
      </p:sp>
      <p:sp>
        <p:nvSpPr>
          <p:cNvPr id="419403472" name="Text 25"/>
          <p:cNvSpPr/>
          <p:nvPr/>
        </p:nvSpPr>
        <p:spPr bwMode="auto">
          <a:xfrm>
            <a:off x="1280160" y="40782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12个月详细计划与KPI</a:t>
            </a:r>
            <a:endParaRPr lang="en-US" sz="1100"/>
          </a:p>
        </p:txBody>
      </p:sp>
      <p:sp>
        <p:nvSpPr>
          <p:cNvPr id="1875855422" name="Shape 26"/>
          <p:cNvSpPr/>
          <p:nvPr/>
        </p:nvSpPr>
        <p:spPr bwMode="auto">
          <a:xfrm>
            <a:off x="731520" y="4407408"/>
            <a:ext cx="365760" cy="36576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307398205" name="Text 27"/>
          <p:cNvSpPr/>
          <p:nvPr/>
        </p:nvSpPr>
        <p:spPr bwMode="auto">
          <a:xfrm>
            <a:off x="731520" y="4407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100"/>
          </a:p>
        </p:txBody>
      </p:sp>
      <p:sp>
        <p:nvSpPr>
          <p:cNvPr id="1630342174" name="Text 28"/>
          <p:cNvSpPr/>
          <p:nvPr/>
        </p:nvSpPr>
        <p:spPr bwMode="auto">
          <a:xfrm>
            <a:off x="1280160" y="4370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投资建议</a:t>
            </a:r>
            <a:endParaRPr lang="en-US" sz="1500"/>
          </a:p>
        </p:txBody>
      </p:sp>
      <p:sp>
        <p:nvSpPr>
          <p:cNvPr id="1085974908" name="Text 29"/>
          <p:cNvSpPr/>
          <p:nvPr/>
        </p:nvSpPr>
        <p:spPr bwMode="auto">
          <a:xfrm>
            <a:off x="1280160" y="46085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ROI分析与最终结论</a:t>
            </a:r>
            <a:endParaRPr lang="en-US" sz="1100"/>
          </a:p>
        </p:txBody>
      </p:sp>
      <p:sp>
        <p:nvSpPr>
          <p:cNvPr id="1776668789" name="Shape 30"/>
          <p:cNvSpPr/>
          <p:nvPr/>
        </p:nvSpPr>
        <p:spPr bwMode="auto">
          <a:xfrm>
            <a:off x="6400800" y="1188720"/>
            <a:ext cx="2286000" cy="347472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37387808" name="Text 31"/>
          <p:cNvSpPr/>
          <p:nvPr/>
        </p:nvSpPr>
        <p:spPr bwMode="auto">
          <a:xfrm>
            <a:off x="6400800" y="1371600"/>
            <a:ext cx="2286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综合可行性评分</a:t>
            </a:r>
            <a:endParaRPr lang="en-US" sz="1200"/>
          </a:p>
          <a:p>
            <a:pPr marL="0" indent="0" algn="ctr">
              <a:buNone/>
              <a:defRPr/>
            </a:pPr>
            <a:br>
              <a:rPr lang="en-US"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endParaRPr lang="en-US" sz="1200"/>
          </a:p>
          <a:p>
            <a:pPr marL="0" indent="0" algn="ctr">
              <a:buNone/>
              <a:defRPr/>
            </a:pPr>
            <a:r>
              <a:rPr lang="en-US" sz="5200" b="1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4.4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8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/ 5.0</a:t>
            </a:r>
            <a:endParaRPr lang="en-US" sz="1200"/>
          </a:p>
          <a:p>
            <a:pPr marL="0" indent="0" algn="ctr">
              <a:buNone/>
              <a:defRPr/>
            </a:pPr>
            <a:b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endParaRPr lang="en-US" sz="1200"/>
          </a:p>
          <a:p>
            <a:pPr marL="0" indent="0" algn="ctr">
              <a:buNone/>
              <a:defRPr/>
            </a:pPr>
            <a:r>
              <a:rPr lang="en-US" sz="16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高度可行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923719" name="Text 0"/>
          <p:cNvSpPr/>
          <p:nvPr/>
        </p:nvSpPr>
        <p:spPr bwMode="auto"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执行摘要</a:t>
            </a:r>
            <a:endParaRPr lang="en-US" sz="2800"/>
          </a:p>
        </p:txBody>
      </p:sp>
      <p:sp>
        <p:nvSpPr>
          <p:cNvPr id="373604805" name="Shape 1"/>
          <p:cNvSpPr/>
          <p:nvPr/>
        </p:nvSpPr>
        <p:spPr bwMode="auto">
          <a:xfrm>
            <a:off x="731520" y="804672"/>
            <a:ext cx="1371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129497603" name="Text 2"/>
          <p:cNvSpPr/>
          <p:nvPr/>
        </p:nvSpPr>
        <p:spPr bwMode="auto"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i="1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Learn without translations — 通过纯英文解释建立英语思维</a:t>
            </a:r>
            <a:endParaRPr lang="en-US" sz="1400"/>
          </a:p>
        </p:txBody>
      </p:sp>
      <p:sp>
        <p:nvSpPr>
          <p:cNvPr id="1928789712" name="Shape 3"/>
          <p:cNvSpPr/>
          <p:nvPr/>
        </p:nvSpPr>
        <p:spPr bwMode="auto">
          <a:xfrm>
            <a:off x="731520" y="1554480"/>
            <a:ext cx="1874520" cy="237744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27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219842529" name="Shape 4"/>
          <p:cNvSpPr/>
          <p:nvPr/>
        </p:nvSpPr>
        <p:spPr bwMode="auto">
          <a:xfrm>
            <a:off x="731520" y="1554480"/>
            <a:ext cx="187452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24247498" name="Text 5"/>
          <p:cNvSpPr/>
          <p:nvPr/>
        </p:nvSpPr>
        <p:spPr bwMode="auto">
          <a:xfrm>
            <a:off x="868680" y="1737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市场机会</a:t>
            </a:r>
            <a:endParaRPr lang="en-US" sz="1500"/>
          </a:p>
        </p:txBody>
      </p:sp>
      <p:sp>
        <p:nvSpPr>
          <p:cNvPr id="1843437089" name="Text 6"/>
          <p:cNvSpPr/>
          <p:nvPr/>
        </p:nvSpPr>
        <p:spPr bwMode="auto">
          <a:xfrm>
            <a:off x="868680" y="210312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明确且未被充分满足的小众需求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TAM: 4500万用户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SAM: 48万用户</a:t>
            </a:r>
            <a:endParaRPr lang="en-US" sz="1100"/>
          </a:p>
        </p:txBody>
      </p:sp>
      <p:sp>
        <p:nvSpPr>
          <p:cNvPr id="1869222276" name="Shape 7"/>
          <p:cNvSpPr/>
          <p:nvPr/>
        </p:nvSpPr>
        <p:spPr bwMode="auto">
          <a:xfrm>
            <a:off x="2788920" y="1554480"/>
            <a:ext cx="1874520" cy="237744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27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104519932" name="Shape 8"/>
          <p:cNvSpPr/>
          <p:nvPr/>
        </p:nvSpPr>
        <p:spPr bwMode="auto">
          <a:xfrm>
            <a:off x="2788920" y="1554480"/>
            <a:ext cx="1874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27983564" name="Text 9"/>
          <p:cNvSpPr/>
          <p:nvPr/>
        </p:nvSpPr>
        <p:spPr bwMode="auto">
          <a:xfrm>
            <a:off x="2926080" y="1737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技术可行</a:t>
            </a:r>
            <a:endParaRPr lang="en-US" sz="1500"/>
          </a:p>
        </p:txBody>
      </p:sp>
      <p:sp>
        <p:nvSpPr>
          <p:cNvPr id="2129927637" name="Text 10"/>
          <p:cNvSpPr/>
          <p:nvPr/>
        </p:nvSpPr>
        <p:spPr bwMode="auto">
          <a:xfrm>
            <a:off x="2926080" y="210312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技术栈成熟，开发风险低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SwiftUI + Node.js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DeepSeek AI API</a:t>
            </a:r>
            <a:endParaRPr lang="en-US" sz="1100"/>
          </a:p>
        </p:txBody>
      </p:sp>
      <p:sp>
        <p:nvSpPr>
          <p:cNvPr id="152598771" name="Shape 11"/>
          <p:cNvSpPr/>
          <p:nvPr/>
        </p:nvSpPr>
        <p:spPr bwMode="auto">
          <a:xfrm>
            <a:off x="4846320" y="1554480"/>
            <a:ext cx="1874520" cy="237744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27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12434530" name="Shape 12"/>
          <p:cNvSpPr/>
          <p:nvPr/>
        </p:nvSpPr>
        <p:spPr bwMode="auto">
          <a:xfrm>
            <a:off x="4846320" y="1554480"/>
            <a:ext cx="1874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82439129" name="Text 13"/>
          <p:cNvSpPr/>
          <p:nvPr/>
        </p:nvSpPr>
        <p:spPr bwMode="auto">
          <a:xfrm>
            <a:off x="4983480" y="1737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商业模式</a:t>
            </a:r>
            <a:endParaRPr lang="en-US" sz="1500"/>
          </a:p>
        </p:txBody>
      </p:sp>
      <p:sp>
        <p:nvSpPr>
          <p:cNvPr id="198639891" name="Text 14"/>
          <p:cNvSpPr/>
          <p:nvPr/>
        </p:nvSpPr>
        <p:spPr bwMode="auto">
          <a:xfrm>
            <a:off x="4983480" y="210312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免费+订阅模式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毛利率: 87.9%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回收期: 3.4个月</a:t>
            </a:r>
            <a:endParaRPr lang="en-US" sz="1100"/>
          </a:p>
        </p:txBody>
      </p:sp>
      <p:sp>
        <p:nvSpPr>
          <p:cNvPr id="1847645537" name="Shape 15"/>
          <p:cNvSpPr/>
          <p:nvPr/>
        </p:nvSpPr>
        <p:spPr bwMode="auto">
          <a:xfrm>
            <a:off x="6903720" y="1554480"/>
            <a:ext cx="1874520" cy="237744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27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426473529" name="Shape 16"/>
          <p:cNvSpPr/>
          <p:nvPr/>
        </p:nvSpPr>
        <p:spPr bwMode="auto">
          <a:xfrm>
            <a:off x="6903720" y="1554480"/>
            <a:ext cx="18745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71602396" name="Text 17"/>
          <p:cNvSpPr/>
          <p:nvPr/>
        </p:nvSpPr>
        <p:spPr bwMode="auto">
          <a:xfrm>
            <a:off x="7040880" y="1737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竞争优势</a:t>
            </a:r>
            <a:endParaRPr lang="en-US" sz="1500"/>
          </a:p>
        </p:txBody>
      </p:sp>
      <p:sp>
        <p:nvSpPr>
          <p:cNvPr id="1524911194" name="Text 18"/>
          <p:cNvSpPr/>
          <p:nvPr/>
        </p:nvSpPr>
        <p:spPr bwMode="auto">
          <a:xfrm>
            <a:off x="7040880" y="210312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差异化定位（纯英英学习）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原生macOS体验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智能词汇筛选</a:t>
            </a:r>
            <a:endParaRPr lang="en-US" sz="1100"/>
          </a:p>
        </p:txBody>
      </p:sp>
      <p:sp>
        <p:nvSpPr>
          <p:cNvPr id="792271129" name="Shape 19"/>
          <p:cNvSpPr/>
          <p:nvPr/>
        </p:nvSpPr>
        <p:spPr bwMode="auto">
          <a:xfrm>
            <a:off x="731520" y="4160519"/>
            <a:ext cx="7680960" cy="64008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1673643835" name="Text 20"/>
          <p:cNvSpPr/>
          <p:nvPr/>
        </p:nvSpPr>
        <p:spPr bwMode="auto">
          <a:xfrm>
            <a:off x="731520" y="4160519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可行性评级：4.4/5.0  |  建议：立即启动项目，采用精益创业方法，快速验证假设，持续迭代优化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1F5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400066" name="Text 0"/>
          <p:cNvSpPr/>
          <p:nvPr/>
        </p:nvSpPr>
        <p:spPr bwMode="auto"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产品概述</a:t>
            </a:r>
            <a:endParaRPr lang="en-US" sz="2800"/>
          </a:p>
        </p:txBody>
      </p:sp>
      <p:sp>
        <p:nvSpPr>
          <p:cNvPr id="1310927646" name="Shape 1"/>
          <p:cNvSpPr/>
          <p:nvPr/>
        </p:nvSpPr>
        <p:spPr bwMode="auto">
          <a:xfrm>
            <a:off x="731520" y="804672"/>
            <a:ext cx="1371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797721302" name="Text 2"/>
          <p:cNvSpPr/>
          <p:nvPr/>
        </p:nvSpPr>
        <p:spPr bwMode="auto">
          <a:xfrm>
            <a:off x="73152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核心理念</a:t>
            </a:r>
            <a:endParaRPr lang="en-US" sz="1400"/>
          </a:p>
        </p:txBody>
      </p:sp>
      <p:sp>
        <p:nvSpPr>
          <p:cNvPr id="284228249" name="Text 3"/>
          <p:cNvSpPr/>
          <p:nvPr/>
        </p:nvSpPr>
        <p:spPr bwMode="auto">
          <a:xfrm>
            <a:off x="731520" y="13716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AI英英词典是一款针对macOS平台的AI驱动英英词典应用，旨在帮助英语学习者通过纯英文解释来理解和记忆单词，避免对中文翻译的依赖。</a:t>
            </a:r>
            <a:endParaRPr lang="en-US" sz="1200"/>
          </a:p>
        </p:txBody>
      </p:sp>
      <p:sp>
        <p:nvSpPr>
          <p:cNvPr id="1267115286" name="Shape 4"/>
          <p:cNvSpPr/>
          <p:nvPr/>
        </p:nvSpPr>
        <p:spPr bwMode="auto">
          <a:xfrm>
            <a:off x="731520" y="2359152"/>
            <a:ext cx="164592" cy="16459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46422067" name="Text 5"/>
          <p:cNvSpPr/>
          <p:nvPr/>
        </p:nvSpPr>
        <p:spPr bwMode="auto">
          <a:xfrm>
            <a:off x="105156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AI单词解释</a:t>
            </a:r>
            <a:endParaRPr lang="en-US" sz="1300"/>
          </a:p>
        </p:txBody>
      </p:sp>
      <p:sp>
        <p:nvSpPr>
          <p:cNvPr id="1269684584" name="Text 6"/>
          <p:cNvSpPr/>
          <p:nvPr/>
        </p:nvSpPr>
        <p:spPr bwMode="auto">
          <a:xfrm>
            <a:off x="105156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3秒内生成一句话英文解释</a:t>
            </a:r>
            <a:endParaRPr lang="en-US" sz="1100"/>
          </a:p>
        </p:txBody>
      </p:sp>
      <p:sp>
        <p:nvSpPr>
          <p:cNvPr id="1014809415" name="Shape 7"/>
          <p:cNvSpPr/>
          <p:nvPr/>
        </p:nvSpPr>
        <p:spPr bwMode="auto">
          <a:xfrm>
            <a:off x="731520" y="2980944"/>
            <a:ext cx="164592" cy="16459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15510538" name="Text 8"/>
          <p:cNvSpPr/>
          <p:nvPr/>
        </p:nvSpPr>
        <p:spPr bwMode="auto">
          <a:xfrm>
            <a:off x="1051560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智能词汇筛选</a:t>
            </a:r>
            <a:endParaRPr lang="en-US" sz="1300"/>
          </a:p>
        </p:txBody>
      </p:sp>
      <p:sp>
        <p:nvSpPr>
          <p:cNvPr id="1862494070" name="Text 9"/>
          <p:cNvSpPr/>
          <p:nvPr/>
        </p:nvSpPr>
        <p:spPr bwMode="auto">
          <a:xfrm>
            <a:off x="1051560" y="3163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标记生词，重新生成不包含生词的解释</a:t>
            </a:r>
            <a:endParaRPr lang="en-US" sz="1100"/>
          </a:p>
        </p:txBody>
      </p:sp>
      <p:sp>
        <p:nvSpPr>
          <p:cNvPr id="1639431356" name="Shape 10"/>
          <p:cNvSpPr/>
          <p:nvPr/>
        </p:nvSpPr>
        <p:spPr bwMode="auto">
          <a:xfrm>
            <a:off x="731520" y="3602735"/>
            <a:ext cx="164592" cy="16459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23535978" name="Text 11"/>
          <p:cNvSpPr/>
          <p:nvPr/>
        </p:nvSpPr>
        <p:spPr bwMode="auto">
          <a:xfrm>
            <a:off x="1051560" y="3529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全局划词</a:t>
            </a:r>
            <a:endParaRPr lang="en-US" sz="1300"/>
          </a:p>
        </p:txBody>
      </p:sp>
      <p:sp>
        <p:nvSpPr>
          <p:cNvPr id="488070484" name="Text 12"/>
          <p:cNvSpPr/>
          <p:nvPr/>
        </p:nvSpPr>
        <p:spPr bwMode="auto">
          <a:xfrm>
            <a:off x="1051560" y="3785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Command+D快捷键唤起浮窗</a:t>
            </a:r>
            <a:endParaRPr lang="en-US" sz="1100"/>
          </a:p>
        </p:txBody>
      </p:sp>
      <p:sp>
        <p:nvSpPr>
          <p:cNvPr id="38378902" name="Shape 13"/>
          <p:cNvSpPr/>
          <p:nvPr/>
        </p:nvSpPr>
        <p:spPr bwMode="auto">
          <a:xfrm>
            <a:off x="731520" y="4224528"/>
            <a:ext cx="164592" cy="16459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07646171" name="Text 14"/>
          <p:cNvSpPr/>
          <p:nvPr/>
        </p:nvSpPr>
        <p:spPr bwMode="auto">
          <a:xfrm>
            <a:off x="1051560" y="4151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生词本管理</a:t>
            </a:r>
            <a:endParaRPr lang="en-US" sz="1300"/>
          </a:p>
        </p:txBody>
      </p:sp>
      <p:sp>
        <p:nvSpPr>
          <p:cNvPr id="1644136573" name="Text 15"/>
          <p:cNvSpPr/>
          <p:nvPr/>
        </p:nvSpPr>
        <p:spPr bwMode="auto">
          <a:xfrm>
            <a:off x="1051560" y="4407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增删改查生词，支持导出</a:t>
            </a:r>
            <a:endParaRPr lang="en-US" sz="1100"/>
          </a:p>
        </p:txBody>
      </p:sp>
      <p:sp>
        <p:nvSpPr>
          <p:cNvPr id="994803569" name="Shape 16"/>
          <p:cNvSpPr/>
          <p:nvPr/>
        </p:nvSpPr>
        <p:spPr bwMode="auto">
          <a:xfrm>
            <a:off x="5303520" y="1051560"/>
            <a:ext cx="32918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952113839" name="Shape 17"/>
          <p:cNvSpPr/>
          <p:nvPr/>
        </p:nvSpPr>
        <p:spPr bwMode="auto">
          <a:xfrm>
            <a:off x="5303520" y="1051560"/>
            <a:ext cx="32918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69736333" name="Text 18"/>
          <p:cNvSpPr/>
          <p:nvPr/>
        </p:nvSpPr>
        <p:spPr bwMode="auto">
          <a:xfrm>
            <a:off x="548640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目标用户画像</a:t>
            </a:r>
            <a:endParaRPr lang="en-US" sz="1500"/>
          </a:p>
        </p:txBody>
      </p:sp>
      <p:sp>
        <p:nvSpPr>
          <p:cNvPr id="2029494463" name="Text 19"/>
          <p:cNvSpPr/>
          <p:nvPr/>
        </p:nvSpPr>
        <p:spPr bwMode="auto">
          <a:xfrm>
            <a:off x="5486400" y="1691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核心用户</a:t>
            </a:r>
            <a:endParaRPr lang="en-US" sz="1000"/>
          </a:p>
        </p:txBody>
      </p:sp>
      <p:sp>
        <p:nvSpPr>
          <p:cNvPr id="145777157" name="Text 20"/>
          <p:cNvSpPr/>
          <p:nvPr/>
        </p:nvSpPr>
        <p:spPr bwMode="auto">
          <a:xfrm>
            <a:off x="5486400" y="18928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中高级英语学习者</a:t>
            </a:r>
            <a:endParaRPr lang="en-US" sz="1100"/>
          </a:p>
        </p:txBody>
      </p:sp>
      <p:sp>
        <p:nvSpPr>
          <p:cNvPr id="2086298643" name="Text 21"/>
          <p:cNvSpPr/>
          <p:nvPr/>
        </p:nvSpPr>
        <p:spPr bwMode="auto">
          <a:xfrm>
            <a:off x="5486400" y="2148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英语水平</a:t>
            </a:r>
            <a:endParaRPr lang="en-US" sz="1000"/>
          </a:p>
        </p:txBody>
      </p:sp>
      <p:sp>
        <p:nvSpPr>
          <p:cNvPr id="145205" name="Text 22"/>
          <p:cNvSpPr/>
          <p:nvPr/>
        </p:nvSpPr>
        <p:spPr bwMode="auto">
          <a:xfrm>
            <a:off x="5486400" y="23500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雅惝6.5+ / 托福90+</a:t>
            </a:r>
            <a:endParaRPr lang="en-US" sz="1100"/>
          </a:p>
        </p:txBody>
      </p:sp>
      <p:sp>
        <p:nvSpPr>
          <p:cNvPr id="187773152" name="Text 23"/>
          <p:cNvSpPr/>
          <p:nvPr/>
        </p:nvSpPr>
        <p:spPr bwMode="auto">
          <a:xfrm>
            <a:off x="5486400" y="2606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年龄层</a:t>
            </a:r>
            <a:endParaRPr lang="en-US" sz="1000"/>
          </a:p>
        </p:txBody>
      </p:sp>
      <p:sp>
        <p:nvSpPr>
          <p:cNvPr id="250388980" name="Text 24"/>
          <p:cNvSpPr/>
          <p:nvPr/>
        </p:nvSpPr>
        <p:spPr bwMode="auto">
          <a:xfrm>
            <a:off x="5486400" y="28072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22-40岁</a:t>
            </a:r>
            <a:endParaRPr lang="en-US" sz="1100"/>
          </a:p>
        </p:txBody>
      </p:sp>
      <p:sp>
        <p:nvSpPr>
          <p:cNvPr id="1420461913" name="Text 25"/>
          <p:cNvSpPr/>
          <p:nvPr/>
        </p:nvSpPr>
        <p:spPr bwMode="auto">
          <a:xfrm>
            <a:off x="5486400" y="3063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使用场景</a:t>
            </a:r>
            <a:endParaRPr lang="en-US" sz="1000"/>
          </a:p>
        </p:txBody>
      </p:sp>
      <p:sp>
        <p:nvSpPr>
          <p:cNvPr id="1358427203" name="Text 26"/>
          <p:cNvSpPr/>
          <p:nvPr/>
        </p:nvSpPr>
        <p:spPr bwMode="auto">
          <a:xfrm>
            <a:off x="5486400" y="32644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阅读英文材料时遇到生词</a:t>
            </a:r>
            <a:endParaRPr lang="en-US" sz="1100"/>
          </a:p>
        </p:txBody>
      </p:sp>
      <p:sp>
        <p:nvSpPr>
          <p:cNvPr id="460702819" name="Text 27"/>
          <p:cNvSpPr/>
          <p:nvPr/>
        </p:nvSpPr>
        <p:spPr bwMode="auto">
          <a:xfrm>
            <a:off x="5486400" y="3520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核心痛点</a:t>
            </a:r>
            <a:endParaRPr lang="en-US" sz="1000"/>
          </a:p>
        </p:txBody>
      </p:sp>
      <p:sp>
        <p:nvSpPr>
          <p:cNvPr id="2103784694" name="Text 28"/>
          <p:cNvSpPr/>
          <p:nvPr/>
        </p:nvSpPr>
        <p:spPr bwMode="auto">
          <a:xfrm>
            <a:off x="5486400" y="37216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依赖中英词典导致无法建立英语思维</a:t>
            </a:r>
            <a:endParaRPr lang="en-US" sz="1100"/>
          </a:p>
        </p:txBody>
      </p:sp>
      <p:sp>
        <p:nvSpPr>
          <p:cNvPr id="1590376448" name="Text 29"/>
          <p:cNvSpPr/>
          <p:nvPr/>
        </p:nvSpPr>
        <p:spPr bwMode="auto">
          <a:xfrm>
            <a:off x="5486400" y="3977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动机</a:t>
            </a:r>
            <a:endParaRPr lang="en-US" sz="1000"/>
          </a:p>
        </p:txBody>
      </p:sp>
      <p:sp>
        <p:nvSpPr>
          <p:cNvPr id="1824405572" name="Text 30"/>
          <p:cNvSpPr/>
          <p:nvPr/>
        </p:nvSpPr>
        <p:spPr bwMode="auto">
          <a:xfrm>
            <a:off x="5486400" y="41788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提升英语能力，准备留学/工作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732376" name="Text 0"/>
          <p:cNvSpPr/>
          <p:nvPr/>
        </p:nvSpPr>
        <p:spPr bwMode="auto"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市场规模分析</a:t>
            </a:r>
            <a:endParaRPr lang="en-US" sz="2800"/>
          </a:p>
        </p:txBody>
      </p:sp>
      <p:sp>
        <p:nvSpPr>
          <p:cNvPr id="889368908" name="Shape 1"/>
          <p:cNvSpPr/>
          <p:nvPr/>
        </p:nvSpPr>
        <p:spPr bwMode="auto">
          <a:xfrm>
            <a:off x="731520" y="804672"/>
            <a:ext cx="1371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398444421" name="Shape 2"/>
          <p:cNvSpPr/>
          <p:nvPr/>
        </p:nvSpPr>
        <p:spPr bwMode="auto">
          <a:xfrm>
            <a:off x="731520" y="1051560"/>
            <a:ext cx="2560320" cy="256032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909514642" name="Shape 3"/>
          <p:cNvSpPr/>
          <p:nvPr/>
        </p:nvSpPr>
        <p:spPr bwMode="auto">
          <a:xfrm>
            <a:off x="868680" y="1234440"/>
            <a:ext cx="640080" cy="274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13662011" name="Text 4"/>
          <p:cNvSpPr/>
          <p:nvPr/>
        </p:nvSpPr>
        <p:spPr bwMode="auto">
          <a:xfrm>
            <a:off x="868680" y="1234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TAM</a:t>
            </a:r>
            <a:endParaRPr lang="en-US" sz="1100"/>
          </a:p>
        </p:txBody>
      </p:sp>
      <p:sp>
        <p:nvSpPr>
          <p:cNvPr id="151691266" name="Text 5"/>
          <p:cNvSpPr/>
          <p:nvPr/>
        </p:nvSpPr>
        <p:spPr bwMode="auto">
          <a:xfrm>
            <a:off x="1645920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总可寻址市场</a:t>
            </a:r>
            <a:endParaRPr lang="en-US" sz="1200"/>
          </a:p>
        </p:txBody>
      </p:sp>
      <p:sp>
        <p:nvSpPr>
          <p:cNvPr id="2069009994" name="Text 6"/>
          <p:cNvSpPr/>
          <p:nvPr/>
        </p:nvSpPr>
        <p:spPr bwMode="auto">
          <a:xfrm>
            <a:off x="86868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4,500万</a:t>
            </a:r>
            <a:endParaRPr lang="en-US" sz="3600"/>
          </a:p>
        </p:txBody>
      </p:sp>
      <p:sp>
        <p:nvSpPr>
          <p:cNvPr id="491977713" name="Text 7"/>
          <p:cNvSpPr/>
          <p:nvPr/>
        </p:nvSpPr>
        <p:spPr bwMode="auto">
          <a:xfrm>
            <a:off x="868680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全球中高级英语学习者中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macOS用户占比15%</a:t>
            </a:r>
            <a:endParaRPr lang="en-US" sz="1100"/>
          </a:p>
        </p:txBody>
      </p:sp>
      <p:sp>
        <p:nvSpPr>
          <p:cNvPr id="712468840" name="Shape 8"/>
          <p:cNvSpPr/>
          <p:nvPr/>
        </p:nvSpPr>
        <p:spPr bwMode="auto">
          <a:xfrm>
            <a:off x="3520440" y="1051560"/>
            <a:ext cx="2560320" cy="256032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314127276" name="Shape 9"/>
          <p:cNvSpPr/>
          <p:nvPr/>
        </p:nvSpPr>
        <p:spPr bwMode="auto">
          <a:xfrm>
            <a:off x="3657600" y="1234440"/>
            <a:ext cx="64008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21675861" name="Text 10"/>
          <p:cNvSpPr/>
          <p:nvPr/>
        </p:nvSpPr>
        <p:spPr bwMode="auto">
          <a:xfrm>
            <a:off x="3657600" y="1234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SAM</a:t>
            </a:r>
            <a:endParaRPr lang="en-US" sz="1100"/>
          </a:p>
        </p:txBody>
      </p:sp>
      <p:sp>
        <p:nvSpPr>
          <p:cNvPr id="1582904202" name="Text 11"/>
          <p:cNvSpPr/>
          <p:nvPr/>
        </p:nvSpPr>
        <p:spPr bwMode="auto">
          <a:xfrm>
            <a:off x="4434840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可服务市场</a:t>
            </a:r>
            <a:endParaRPr lang="en-US" sz="1200"/>
          </a:p>
        </p:txBody>
      </p:sp>
      <p:sp>
        <p:nvSpPr>
          <p:cNvPr id="2060949734" name="Text 12"/>
          <p:cNvSpPr/>
          <p:nvPr/>
        </p:nvSpPr>
        <p:spPr bwMode="auto">
          <a:xfrm>
            <a:off x="365760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48万</a:t>
            </a:r>
            <a:endParaRPr lang="en-US" sz="3600"/>
          </a:p>
        </p:txBody>
      </p:sp>
      <p:sp>
        <p:nvSpPr>
          <p:cNvPr id="874251263" name="Text 13"/>
          <p:cNvSpPr/>
          <p:nvPr/>
        </p:nvSpPr>
        <p:spPr bwMode="auto">
          <a:xfrm>
            <a:off x="3657600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中国中高级英语学习者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愿意使用英英词典的比例30%</a:t>
            </a:r>
            <a:endParaRPr lang="en-US" sz="1100"/>
          </a:p>
        </p:txBody>
      </p:sp>
      <p:sp>
        <p:nvSpPr>
          <p:cNvPr id="1271833913" name="Shape 14"/>
          <p:cNvSpPr/>
          <p:nvPr/>
        </p:nvSpPr>
        <p:spPr bwMode="auto">
          <a:xfrm>
            <a:off x="6309360" y="1051560"/>
            <a:ext cx="2560320" cy="256032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1873058832" name="Shape 15"/>
          <p:cNvSpPr/>
          <p:nvPr/>
        </p:nvSpPr>
        <p:spPr bwMode="auto">
          <a:xfrm>
            <a:off x="6446520" y="1234440"/>
            <a:ext cx="64008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34023216" name="Text 16"/>
          <p:cNvSpPr/>
          <p:nvPr/>
        </p:nvSpPr>
        <p:spPr bwMode="auto">
          <a:xfrm>
            <a:off x="6446520" y="1234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SOM</a:t>
            </a:r>
            <a:endParaRPr lang="en-US" sz="1100"/>
          </a:p>
        </p:txBody>
      </p:sp>
      <p:sp>
        <p:nvSpPr>
          <p:cNvPr id="1726486618" name="Text 17"/>
          <p:cNvSpPr/>
          <p:nvPr/>
        </p:nvSpPr>
        <p:spPr bwMode="auto">
          <a:xfrm>
            <a:off x="7223760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可获得市场</a:t>
            </a:r>
            <a:endParaRPr lang="en-US" sz="1200"/>
          </a:p>
        </p:txBody>
      </p:sp>
      <p:sp>
        <p:nvSpPr>
          <p:cNvPr id="1051581187" name="Text 18"/>
          <p:cNvSpPr/>
          <p:nvPr/>
        </p:nvSpPr>
        <p:spPr bwMode="auto">
          <a:xfrm>
            <a:off x="644652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4,800</a:t>
            </a:r>
            <a:endParaRPr lang="en-US" sz="3600"/>
          </a:p>
        </p:txBody>
      </p:sp>
      <p:sp>
        <p:nvSpPr>
          <p:cNvPr id="2012332638" name="Text 19"/>
          <p:cNvSpPr/>
          <p:nvPr/>
        </p:nvSpPr>
        <p:spPr bwMode="auto">
          <a:xfrm>
            <a:off x="6446520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首年目标：获取1%的SAM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三年目标：48,000活跃用户</a:t>
            </a:r>
            <a:endParaRPr lang="en-US" sz="1100"/>
          </a:p>
        </p:txBody>
      </p:sp>
      <p:sp>
        <p:nvSpPr>
          <p:cNvPr id="760619577" name="Text 20"/>
          <p:cNvSpPr/>
          <p:nvPr/>
        </p:nvSpPr>
        <p:spPr bwMode="auto">
          <a:xfrm>
            <a:off x="731520" y="3840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市场趋势</a:t>
            </a:r>
            <a:endParaRPr lang="en-US" sz="1600"/>
          </a:p>
        </p:txBody>
      </p:sp>
      <p:sp>
        <p:nvSpPr>
          <p:cNvPr id="128736483" name="Shape 21"/>
          <p:cNvSpPr/>
          <p:nvPr/>
        </p:nvSpPr>
        <p:spPr bwMode="auto">
          <a:xfrm>
            <a:off x="731520" y="4206240"/>
            <a:ext cx="187452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67819928" name="Text 22"/>
          <p:cNvSpPr/>
          <p:nvPr/>
        </p:nvSpPr>
        <p:spPr bwMode="auto">
          <a:xfrm>
            <a:off x="822960" y="42245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AI大模型普及</a:t>
            </a:r>
            <a:endParaRPr lang="en-US" sz="1100"/>
          </a:p>
        </p:txBody>
      </p:sp>
      <p:sp>
        <p:nvSpPr>
          <p:cNvPr id="730618309" name="Text 23"/>
          <p:cNvSpPr/>
          <p:nvPr/>
        </p:nvSpPr>
        <p:spPr bwMode="auto">
          <a:xfrm>
            <a:off x="822960" y="4480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降低AI功能开发门槛</a:t>
            </a:r>
            <a:endParaRPr lang="en-US" sz="900"/>
          </a:p>
        </p:txBody>
      </p:sp>
      <p:sp>
        <p:nvSpPr>
          <p:cNvPr id="162403468" name="Shape 24"/>
          <p:cNvSpPr/>
          <p:nvPr/>
        </p:nvSpPr>
        <p:spPr bwMode="auto">
          <a:xfrm>
            <a:off x="2788920" y="4206240"/>
            <a:ext cx="187452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86278596" name="Text 25"/>
          <p:cNvSpPr/>
          <p:nvPr/>
        </p:nvSpPr>
        <p:spPr bwMode="auto">
          <a:xfrm>
            <a:off x="2880360" y="42245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英语学习方法革新</a:t>
            </a:r>
            <a:endParaRPr lang="en-US" sz="1100"/>
          </a:p>
        </p:txBody>
      </p:sp>
      <p:sp>
        <p:nvSpPr>
          <p:cNvPr id="1493397497" name="Text 26"/>
          <p:cNvSpPr/>
          <p:nvPr/>
        </p:nvSpPr>
        <p:spPr bwMode="auto">
          <a:xfrm>
            <a:off x="2880360" y="4480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从“翻译法”转向“沉浸法”</a:t>
            </a:r>
            <a:endParaRPr lang="en-US" sz="900"/>
          </a:p>
        </p:txBody>
      </p:sp>
      <p:sp>
        <p:nvSpPr>
          <p:cNvPr id="52829784" name="Shape 27"/>
          <p:cNvSpPr/>
          <p:nvPr/>
        </p:nvSpPr>
        <p:spPr bwMode="auto">
          <a:xfrm>
            <a:off x="4846320" y="4206240"/>
            <a:ext cx="187452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03692923" name="Text 28"/>
          <p:cNvSpPr/>
          <p:nvPr/>
        </p:nvSpPr>
        <p:spPr bwMode="auto">
          <a:xfrm>
            <a:off x="4937760" y="42245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生产力工具兴起</a:t>
            </a:r>
            <a:endParaRPr lang="en-US" sz="1100"/>
          </a:p>
        </p:txBody>
      </p:sp>
      <p:sp>
        <p:nvSpPr>
          <p:cNvPr id="336794371" name="Text 29"/>
          <p:cNvSpPr/>
          <p:nvPr/>
        </p:nvSpPr>
        <p:spPr bwMode="auto">
          <a:xfrm>
            <a:off x="4937760" y="4480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用户愿意为效率工具付费</a:t>
            </a:r>
            <a:endParaRPr lang="en-US" sz="900"/>
          </a:p>
        </p:txBody>
      </p:sp>
      <p:sp>
        <p:nvSpPr>
          <p:cNvPr id="240526112" name="Shape 30"/>
          <p:cNvSpPr/>
          <p:nvPr/>
        </p:nvSpPr>
        <p:spPr bwMode="auto">
          <a:xfrm>
            <a:off x="6903720" y="4206240"/>
            <a:ext cx="187452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74857895" name="Text 31"/>
          <p:cNvSpPr/>
          <p:nvPr/>
        </p:nvSpPr>
        <p:spPr bwMode="auto">
          <a:xfrm>
            <a:off x="6995160" y="42245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在线教育增长</a:t>
            </a:r>
            <a:endParaRPr lang="en-US" sz="1100"/>
          </a:p>
        </p:txBody>
      </p:sp>
      <p:sp>
        <p:nvSpPr>
          <p:cNvPr id="1915460008" name="Text 32"/>
          <p:cNvSpPr/>
          <p:nvPr/>
        </p:nvSpPr>
        <p:spPr bwMode="auto">
          <a:xfrm>
            <a:off x="6995160" y="4480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可与在线课程形成互补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425361" name="Text 0"/>
          <p:cNvSpPr/>
          <p:nvPr/>
        </p:nvSpPr>
        <p:spPr bwMode="auto"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竞争分析</a:t>
            </a:r>
            <a:endParaRPr lang="en-US" sz="2800"/>
          </a:p>
        </p:txBody>
      </p:sp>
      <p:sp>
        <p:nvSpPr>
          <p:cNvPr id="2138943276" name="Shape 1"/>
          <p:cNvSpPr/>
          <p:nvPr/>
        </p:nvSpPr>
        <p:spPr bwMode="auto">
          <a:xfrm>
            <a:off x="731520" y="804672"/>
            <a:ext cx="1371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graphicFrame>
        <p:nvGraphicFramePr>
          <p:cNvPr id="2100192081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731520" y="1005840"/>
          <a:ext cx="768096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371600"/>
                <a:gridCol w="1188720"/>
                <a:gridCol w="1828800"/>
                <a:gridCol w="1828800"/>
                <a:gridCol w="1463040"/>
              </a:tblGrid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竞品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类型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优势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劣势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定价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</a:rPr>
                        <a:t>有道词典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翻译词典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品牌知名度高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依赖中英翻译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免费/¥98/年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</a:rPr>
                        <a:t>欧路词典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本地词典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词库丰富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UI老旧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¥68买断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</a:rPr>
                        <a:t>DeepL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AI翻译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翻译质量高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非英英工具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$8.99/月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</a:rPr>
                        <a:t>LookUp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macOS词典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设计感强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无AI功能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$4.99买断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</a:rPr>
                        <a:t>AI英英词典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AI英英词典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AI动态解释+原生体验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仅macOS，品牌新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$4.99/月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1365418922" name="Text 2"/>
          <p:cNvSpPr/>
          <p:nvPr/>
        </p:nvSpPr>
        <p:spPr bwMode="auto"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核心差异化优势</a:t>
            </a:r>
            <a:endParaRPr lang="en-US" sz="1600"/>
          </a:p>
        </p:txBody>
      </p:sp>
      <p:sp>
        <p:nvSpPr>
          <p:cNvPr id="1245032700" name="Shape 3"/>
          <p:cNvSpPr/>
          <p:nvPr/>
        </p:nvSpPr>
        <p:spPr bwMode="auto">
          <a:xfrm>
            <a:off x="731520" y="3931920"/>
            <a:ext cx="187452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2361669" name="Shape 4"/>
          <p:cNvSpPr/>
          <p:nvPr/>
        </p:nvSpPr>
        <p:spPr bwMode="auto">
          <a:xfrm>
            <a:off x="731520" y="3931920"/>
            <a:ext cx="54864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23683749" name="Text 5"/>
          <p:cNvSpPr/>
          <p:nvPr/>
        </p:nvSpPr>
        <p:spPr bwMode="auto">
          <a:xfrm>
            <a:off x="914400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AI动态解释</a:t>
            </a:r>
            <a:endParaRPr lang="en-US" sz="1200"/>
          </a:p>
        </p:txBody>
      </p:sp>
      <p:sp>
        <p:nvSpPr>
          <p:cNvPr id="979014709" name="Text 6"/>
          <p:cNvSpPr/>
          <p:nvPr/>
        </p:nvSpPr>
        <p:spPr bwMode="auto">
          <a:xfrm>
            <a:off x="914400" y="4251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根据用户水平动态调整解释难度</a:t>
            </a:r>
            <a:endParaRPr lang="en-US" sz="1000"/>
          </a:p>
        </p:txBody>
      </p:sp>
      <p:sp>
        <p:nvSpPr>
          <p:cNvPr id="485998608" name="Shape 7"/>
          <p:cNvSpPr/>
          <p:nvPr/>
        </p:nvSpPr>
        <p:spPr bwMode="auto">
          <a:xfrm>
            <a:off x="2788920" y="3931920"/>
            <a:ext cx="187452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41918121" name="Shape 8"/>
          <p:cNvSpPr/>
          <p:nvPr/>
        </p:nvSpPr>
        <p:spPr bwMode="auto">
          <a:xfrm>
            <a:off x="2788920" y="393192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33536411" name="Text 9"/>
          <p:cNvSpPr/>
          <p:nvPr/>
        </p:nvSpPr>
        <p:spPr bwMode="auto">
          <a:xfrm>
            <a:off x="2971800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纯英英学习</a:t>
            </a:r>
            <a:endParaRPr lang="en-US" sz="1200"/>
          </a:p>
        </p:txBody>
      </p:sp>
      <p:sp>
        <p:nvSpPr>
          <p:cNvPr id="364456948" name="Text 10"/>
          <p:cNvSpPr/>
          <p:nvPr/>
        </p:nvSpPr>
        <p:spPr bwMode="auto">
          <a:xfrm>
            <a:off x="2971800" y="4251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100%英英解释，强制英语思维</a:t>
            </a:r>
            <a:endParaRPr lang="en-US" sz="1000"/>
          </a:p>
        </p:txBody>
      </p:sp>
      <p:sp>
        <p:nvSpPr>
          <p:cNvPr id="961568346" name="Shape 11"/>
          <p:cNvSpPr/>
          <p:nvPr/>
        </p:nvSpPr>
        <p:spPr bwMode="auto">
          <a:xfrm>
            <a:off x="4846320" y="3931920"/>
            <a:ext cx="187452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78785239" name="Shape 12"/>
          <p:cNvSpPr/>
          <p:nvPr/>
        </p:nvSpPr>
        <p:spPr bwMode="auto">
          <a:xfrm>
            <a:off x="4846320" y="393192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79272534" name="Text 13"/>
          <p:cNvSpPr/>
          <p:nvPr/>
        </p:nvSpPr>
        <p:spPr bwMode="auto">
          <a:xfrm>
            <a:off x="5029200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原生macOS</a:t>
            </a:r>
            <a:endParaRPr lang="en-US" sz="1200"/>
          </a:p>
        </p:txBody>
      </p:sp>
      <p:sp>
        <p:nvSpPr>
          <p:cNvPr id="1525990755" name="Text 14"/>
          <p:cNvSpPr/>
          <p:nvPr/>
        </p:nvSpPr>
        <p:spPr bwMode="auto">
          <a:xfrm>
            <a:off x="5029200" y="4251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SwiftUI原生应用，性能卓越</a:t>
            </a:r>
            <a:endParaRPr lang="en-US" sz="1000"/>
          </a:p>
        </p:txBody>
      </p:sp>
      <p:sp>
        <p:nvSpPr>
          <p:cNvPr id="1062785536" name="Shape 15"/>
          <p:cNvSpPr/>
          <p:nvPr/>
        </p:nvSpPr>
        <p:spPr bwMode="auto">
          <a:xfrm>
            <a:off x="6903720" y="3931920"/>
            <a:ext cx="187452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34484925" name="Shape 16"/>
          <p:cNvSpPr/>
          <p:nvPr/>
        </p:nvSpPr>
        <p:spPr bwMode="auto">
          <a:xfrm>
            <a:off x="6903720" y="393192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39382552" name="Text 17"/>
          <p:cNvSpPr/>
          <p:nvPr/>
        </p:nvSpPr>
        <p:spPr bwMode="auto">
          <a:xfrm>
            <a:off x="7086600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智能筛选</a:t>
            </a:r>
            <a:endParaRPr lang="en-US" sz="1200"/>
          </a:p>
        </p:txBody>
      </p:sp>
      <p:sp>
        <p:nvSpPr>
          <p:cNvPr id="1100597646" name="Text 18"/>
          <p:cNvSpPr/>
          <p:nvPr/>
        </p:nvSpPr>
        <p:spPr bwMode="auto">
          <a:xfrm>
            <a:off x="7086600" y="4251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一键避开生词重新生成，独创功能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1F5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560558" name="Text 0"/>
          <p:cNvSpPr/>
          <p:nvPr/>
        </p:nvSpPr>
        <p:spPr bwMode="auto"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SWOT 分析</a:t>
            </a:r>
            <a:endParaRPr lang="en-US" sz="2800"/>
          </a:p>
        </p:txBody>
      </p:sp>
      <p:sp>
        <p:nvSpPr>
          <p:cNvPr id="1424755045" name="Shape 1"/>
          <p:cNvSpPr/>
          <p:nvPr/>
        </p:nvSpPr>
        <p:spPr bwMode="auto">
          <a:xfrm>
            <a:off x="731520" y="804672"/>
            <a:ext cx="1371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890543939" name="Shape 2"/>
          <p:cNvSpPr/>
          <p:nvPr/>
        </p:nvSpPr>
        <p:spPr bwMode="auto">
          <a:xfrm>
            <a:off x="731520" y="105156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1751416801" name="Shape 3"/>
          <p:cNvSpPr/>
          <p:nvPr/>
        </p:nvSpPr>
        <p:spPr bwMode="auto">
          <a:xfrm>
            <a:off x="731520" y="1051560"/>
            <a:ext cx="39319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5047443" name="Text 4"/>
          <p:cNvSpPr/>
          <p:nvPr/>
        </p:nvSpPr>
        <p:spPr bwMode="auto">
          <a:xfrm>
            <a:off x="914400" y="1161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S 优势</a:t>
            </a:r>
            <a:endParaRPr lang="en-US" sz="1400"/>
          </a:p>
        </p:txBody>
      </p:sp>
      <p:sp>
        <p:nvSpPr>
          <p:cNvPr id="233193549" name="Text 5"/>
          <p:cNvSpPr/>
          <p:nvPr/>
        </p:nvSpPr>
        <p:spPr bwMode="auto">
          <a:xfrm>
            <a:off x="914400" y="146304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技术栈成熟，团队储备充足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AI能力领先，DeepSeek API质量高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用户体验优秀，原生macOS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差异化定位，避开红海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轻量级架构，单人可维护</a:t>
            </a:r>
            <a:endParaRPr lang="en-US" sz="1000"/>
          </a:p>
        </p:txBody>
      </p:sp>
      <p:sp>
        <p:nvSpPr>
          <p:cNvPr id="1556101130" name="Shape 6"/>
          <p:cNvSpPr/>
          <p:nvPr/>
        </p:nvSpPr>
        <p:spPr bwMode="auto">
          <a:xfrm>
            <a:off x="4846320" y="105156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1082614787" name="Shape 7"/>
          <p:cNvSpPr/>
          <p:nvPr/>
        </p:nvSpPr>
        <p:spPr bwMode="auto">
          <a:xfrm>
            <a:off x="4846320" y="1051560"/>
            <a:ext cx="393192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59962925" name="Text 8"/>
          <p:cNvSpPr/>
          <p:nvPr/>
        </p:nvSpPr>
        <p:spPr bwMode="auto">
          <a:xfrm>
            <a:off x="5029200" y="1161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W 劣势</a:t>
            </a:r>
            <a:endParaRPr lang="en-US" sz="1400"/>
          </a:p>
        </p:txBody>
      </p:sp>
      <p:sp>
        <p:nvSpPr>
          <p:cNvPr id="485224735" name="Text 9"/>
          <p:cNvSpPr/>
          <p:nvPr/>
        </p:nvSpPr>
        <p:spPr bwMode="auto">
          <a:xfrm>
            <a:off x="5029200" y="146304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仅支持macOS，iOS版本待开发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依赖第三方API，稳定性风险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品牌知名度低，新入局者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资金资源有限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功能相对单一</a:t>
            </a:r>
            <a:endParaRPr lang="en-US" sz="1000"/>
          </a:p>
        </p:txBody>
      </p:sp>
      <p:sp>
        <p:nvSpPr>
          <p:cNvPr id="808308582" name="Shape 10"/>
          <p:cNvSpPr/>
          <p:nvPr/>
        </p:nvSpPr>
        <p:spPr bwMode="auto">
          <a:xfrm>
            <a:off x="731520" y="29260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313076868" name="Shape 11"/>
          <p:cNvSpPr/>
          <p:nvPr/>
        </p:nvSpPr>
        <p:spPr bwMode="auto">
          <a:xfrm>
            <a:off x="731520" y="2926080"/>
            <a:ext cx="39319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43624056" name="Text 12"/>
          <p:cNvSpPr/>
          <p:nvPr/>
        </p:nvSpPr>
        <p:spPr bwMode="auto">
          <a:xfrm>
            <a:off x="914400" y="3035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O 机会</a:t>
            </a:r>
            <a:endParaRPr lang="en-US" sz="1400"/>
          </a:p>
        </p:txBody>
      </p:sp>
      <p:sp>
        <p:nvSpPr>
          <p:cNvPr id="1944590414" name="Text 13"/>
          <p:cNvSpPr/>
          <p:nvPr/>
        </p:nvSpPr>
        <p:spPr bwMode="auto">
          <a:xfrm>
            <a:off x="914400" y="333756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AI技术发展，解释质量提升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英语学习市场持续增长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跨平台扩展（iOS、Web）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付费意愿提升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社区建设，容易获得种子用户</a:t>
            </a:r>
            <a:endParaRPr lang="en-US" sz="1000"/>
          </a:p>
        </p:txBody>
      </p:sp>
      <p:sp>
        <p:nvSpPr>
          <p:cNvPr id="1815950564" name="Shape 14"/>
          <p:cNvSpPr/>
          <p:nvPr/>
        </p:nvSpPr>
        <p:spPr bwMode="auto">
          <a:xfrm>
            <a:off x="4846320" y="29260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544446568" name="Shape 15"/>
          <p:cNvSpPr/>
          <p:nvPr/>
        </p:nvSpPr>
        <p:spPr bwMode="auto">
          <a:xfrm>
            <a:off x="4846320" y="2926080"/>
            <a:ext cx="39319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55603132" name="Text 16"/>
          <p:cNvSpPr/>
          <p:nvPr/>
        </p:nvSpPr>
        <p:spPr bwMode="auto">
          <a:xfrm>
            <a:off x="5029200" y="3035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T 威胁</a:t>
            </a:r>
            <a:endParaRPr lang="en-US" sz="1400"/>
          </a:p>
        </p:txBody>
      </p:sp>
      <p:sp>
        <p:nvSpPr>
          <p:cNvPr id="1526114985" name="Text 17"/>
          <p:cNvSpPr/>
          <p:nvPr/>
        </p:nvSpPr>
        <p:spPr bwMode="auto">
          <a:xfrm>
            <a:off x="5029200" y="333756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巨头入局：有道、欧路加入AI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API成本上涨风险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Apple自带词典持续改进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经济下行影响付费意愿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技术依赖风险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764673" name="Text 0"/>
          <p:cNvSpPr/>
          <p:nvPr/>
        </p:nvSpPr>
        <p:spPr bwMode="auto"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技术架构</a:t>
            </a:r>
            <a:endParaRPr lang="en-US" sz="2800"/>
          </a:p>
        </p:txBody>
      </p:sp>
      <p:sp>
        <p:nvSpPr>
          <p:cNvPr id="526253342" name="Shape 1"/>
          <p:cNvSpPr/>
          <p:nvPr/>
        </p:nvSpPr>
        <p:spPr bwMode="auto">
          <a:xfrm>
            <a:off x="731520" y="804672"/>
            <a:ext cx="1371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585751695" name="Shape 2"/>
          <p:cNvSpPr/>
          <p:nvPr/>
        </p:nvSpPr>
        <p:spPr bwMode="auto">
          <a:xfrm>
            <a:off x="731520" y="1051560"/>
            <a:ext cx="1920240" cy="2377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43557929" name="Shape 3"/>
          <p:cNvSpPr/>
          <p:nvPr/>
        </p:nvSpPr>
        <p:spPr bwMode="auto">
          <a:xfrm>
            <a:off x="731520" y="1051560"/>
            <a:ext cx="192024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30851317" name="Text 4"/>
          <p:cNvSpPr/>
          <p:nvPr/>
        </p:nvSpPr>
        <p:spPr bwMode="auto">
          <a:xfrm>
            <a:off x="86868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前端</a:t>
            </a:r>
            <a:endParaRPr lang="en-US" sz="1400"/>
          </a:p>
        </p:txBody>
      </p:sp>
      <p:sp>
        <p:nvSpPr>
          <p:cNvPr id="1855837197" name="Shape 5"/>
          <p:cNvSpPr/>
          <p:nvPr/>
        </p:nvSpPr>
        <p:spPr bwMode="auto">
          <a:xfrm>
            <a:off x="868680" y="1645920"/>
            <a:ext cx="16459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0654718" name="Text 6"/>
          <p:cNvSpPr/>
          <p:nvPr/>
        </p:nvSpPr>
        <p:spPr bwMode="auto">
          <a:xfrm>
            <a:off x="868680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SwiftUI</a:t>
            </a:r>
            <a:endParaRPr lang="en-US" sz="1100"/>
          </a:p>
        </p:txBody>
      </p:sp>
      <p:sp>
        <p:nvSpPr>
          <p:cNvPr id="103583969" name="Shape 7"/>
          <p:cNvSpPr/>
          <p:nvPr/>
        </p:nvSpPr>
        <p:spPr bwMode="auto">
          <a:xfrm>
            <a:off x="868680" y="2148840"/>
            <a:ext cx="16459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16050071" name="Text 8"/>
          <p:cNvSpPr/>
          <p:nvPr/>
        </p:nvSpPr>
        <p:spPr bwMode="auto">
          <a:xfrm>
            <a:off x="868680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Combine</a:t>
            </a:r>
            <a:endParaRPr lang="en-US" sz="1100"/>
          </a:p>
        </p:txBody>
      </p:sp>
      <p:sp>
        <p:nvSpPr>
          <p:cNvPr id="2134353529" name="Shape 9"/>
          <p:cNvSpPr/>
          <p:nvPr/>
        </p:nvSpPr>
        <p:spPr bwMode="auto">
          <a:xfrm>
            <a:off x="868680" y="2651760"/>
            <a:ext cx="16459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54885958" name="Text 10"/>
          <p:cNvSpPr/>
          <p:nvPr/>
        </p:nvSpPr>
        <p:spPr bwMode="auto">
          <a:xfrm>
            <a:off x="86868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SwiftData</a:t>
            </a:r>
            <a:endParaRPr lang="en-US" sz="1100"/>
          </a:p>
        </p:txBody>
      </p:sp>
      <p:sp>
        <p:nvSpPr>
          <p:cNvPr id="1950327481" name="Shape 11"/>
          <p:cNvSpPr/>
          <p:nvPr/>
        </p:nvSpPr>
        <p:spPr bwMode="auto">
          <a:xfrm>
            <a:off x="2926080" y="1051560"/>
            <a:ext cx="1920240" cy="2377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41385847" name="Shape 12"/>
          <p:cNvSpPr/>
          <p:nvPr/>
        </p:nvSpPr>
        <p:spPr bwMode="auto">
          <a:xfrm>
            <a:off x="2926080" y="1051560"/>
            <a:ext cx="19202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54494325" name="Text 13"/>
          <p:cNvSpPr/>
          <p:nvPr/>
        </p:nvSpPr>
        <p:spPr bwMode="auto">
          <a:xfrm>
            <a:off x="306324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后端</a:t>
            </a:r>
            <a:endParaRPr lang="en-US" sz="1400"/>
          </a:p>
        </p:txBody>
      </p:sp>
      <p:sp>
        <p:nvSpPr>
          <p:cNvPr id="1776327916" name="Shape 14"/>
          <p:cNvSpPr/>
          <p:nvPr/>
        </p:nvSpPr>
        <p:spPr bwMode="auto">
          <a:xfrm>
            <a:off x="3063240" y="1645920"/>
            <a:ext cx="16459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65417302" name="Text 15"/>
          <p:cNvSpPr/>
          <p:nvPr/>
        </p:nvSpPr>
        <p:spPr bwMode="auto">
          <a:xfrm>
            <a:off x="3063240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Node.js</a:t>
            </a:r>
            <a:endParaRPr lang="en-US" sz="1100"/>
          </a:p>
        </p:txBody>
      </p:sp>
      <p:sp>
        <p:nvSpPr>
          <p:cNvPr id="1194472547" name="Shape 16"/>
          <p:cNvSpPr/>
          <p:nvPr/>
        </p:nvSpPr>
        <p:spPr bwMode="auto">
          <a:xfrm>
            <a:off x="3063240" y="2148840"/>
            <a:ext cx="16459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7402913" name="Text 17"/>
          <p:cNvSpPr/>
          <p:nvPr/>
        </p:nvSpPr>
        <p:spPr bwMode="auto">
          <a:xfrm>
            <a:off x="3063240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Express</a:t>
            </a:r>
            <a:endParaRPr lang="en-US" sz="1100"/>
          </a:p>
        </p:txBody>
      </p:sp>
      <p:sp>
        <p:nvSpPr>
          <p:cNvPr id="297818612" name="Shape 18"/>
          <p:cNvSpPr/>
          <p:nvPr/>
        </p:nvSpPr>
        <p:spPr bwMode="auto">
          <a:xfrm>
            <a:off x="3063240" y="2651760"/>
            <a:ext cx="16459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26908454" name="Text 19"/>
          <p:cNvSpPr/>
          <p:nvPr/>
        </p:nvSpPr>
        <p:spPr bwMode="auto">
          <a:xfrm>
            <a:off x="306324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MongoDB</a:t>
            </a:r>
            <a:endParaRPr lang="en-US" sz="1100"/>
          </a:p>
        </p:txBody>
      </p:sp>
      <p:sp>
        <p:nvSpPr>
          <p:cNvPr id="1989089492" name="Shape 20"/>
          <p:cNvSpPr/>
          <p:nvPr/>
        </p:nvSpPr>
        <p:spPr bwMode="auto">
          <a:xfrm>
            <a:off x="5120640" y="1051560"/>
            <a:ext cx="1920240" cy="2377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6387901" name="Shape 21"/>
          <p:cNvSpPr/>
          <p:nvPr/>
        </p:nvSpPr>
        <p:spPr bwMode="auto">
          <a:xfrm>
            <a:off x="5120640" y="1051560"/>
            <a:ext cx="19202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62563736" name="Text 22"/>
          <p:cNvSpPr/>
          <p:nvPr/>
        </p:nvSpPr>
        <p:spPr bwMode="auto">
          <a:xfrm>
            <a:off x="525780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AI服务</a:t>
            </a:r>
            <a:endParaRPr lang="en-US" sz="1400"/>
          </a:p>
        </p:txBody>
      </p:sp>
      <p:sp>
        <p:nvSpPr>
          <p:cNvPr id="1586716836" name="Shape 23"/>
          <p:cNvSpPr/>
          <p:nvPr/>
        </p:nvSpPr>
        <p:spPr bwMode="auto">
          <a:xfrm>
            <a:off x="5257800" y="1645920"/>
            <a:ext cx="16459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97717939" name="Text 24"/>
          <p:cNvSpPr/>
          <p:nvPr/>
        </p:nvSpPr>
        <p:spPr bwMode="auto">
          <a:xfrm>
            <a:off x="5257800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DeepSeek API</a:t>
            </a:r>
            <a:endParaRPr lang="en-US" sz="1100"/>
          </a:p>
        </p:txBody>
      </p:sp>
      <p:sp>
        <p:nvSpPr>
          <p:cNvPr id="375285548" name="Shape 25"/>
          <p:cNvSpPr/>
          <p:nvPr/>
        </p:nvSpPr>
        <p:spPr bwMode="auto">
          <a:xfrm>
            <a:off x="5257800" y="2148840"/>
            <a:ext cx="16459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87717444" name="Text 26"/>
          <p:cNvSpPr/>
          <p:nvPr/>
        </p:nvSpPr>
        <p:spPr bwMode="auto">
          <a:xfrm>
            <a:off x="5257800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缓存层</a:t>
            </a:r>
            <a:endParaRPr lang="en-US" sz="1100"/>
          </a:p>
        </p:txBody>
      </p:sp>
      <p:sp>
        <p:nvSpPr>
          <p:cNvPr id="1684664211" name="Shape 27"/>
          <p:cNvSpPr/>
          <p:nvPr/>
        </p:nvSpPr>
        <p:spPr bwMode="auto">
          <a:xfrm>
            <a:off x="5257800" y="2651760"/>
            <a:ext cx="16459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55780870" name="Text 28"/>
          <p:cNvSpPr/>
          <p:nvPr/>
        </p:nvSpPr>
        <p:spPr bwMode="auto">
          <a:xfrm>
            <a:off x="525780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提示词优化</a:t>
            </a:r>
            <a:endParaRPr lang="en-US" sz="1100"/>
          </a:p>
        </p:txBody>
      </p:sp>
      <p:sp>
        <p:nvSpPr>
          <p:cNvPr id="479586869" name="Shape 29"/>
          <p:cNvSpPr/>
          <p:nvPr/>
        </p:nvSpPr>
        <p:spPr bwMode="auto">
          <a:xfrm>
            <a:off x="7315200" y="1051560"/>
            <a:ext cx="1920240" cy="2377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31869562" name="Shape 30"/>
          <p:cNvSpPr/>
          <p:nvPr/>
        </p:nvSpPr>
        <p:spPr bwMode="auto">
          <a:xfrm>
            <a:off x="7315200" y="1051560"/>
            <a:ext cx="192024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05604690" name="Text 31"/>
          <p:cNvSpPr/>
          <p:nvPr/>
        </p:nvSpPr>
        <p:spPr bwMode="auto">
          <a:xfrm>
            <a:off x="745236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部署</a:t>
            </a:r>
            <a:endParaRPr lang="en-US" sz="1400"/>
          </a:p>
        </p:txBody>
      </p:sp>
      <p:sp>
        <p:nvSpPr>
          <p:cNvPr id="353809647" name="Shape 32"/>
          <p:cNvSpPr/>
          <p:nvPr/>
        </p:nvSpPr>
        <p:spPr bwMode="auto">
          <a:xfrm>
            <a:off x="7452360" y="1645920"/>
            <a:ext cx="16459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7535370" name="Text 33"/>
          <p:cNvSpPr/>
          <p:nvPr/>
        </p:nvSpPr>
        <p:spPr bwMode="auto">
          <a:xfrm>
            <a:off x="7452360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Fly.io</a:t>
            </a:r>
            <a:endParaRPr lang="en-US" sz="1100"/>
          </a:p>
        </p:txBody>
      </p:sp>
      <p:sp>
        <p:nvSpPr>
          <p:cNvPr id="775231980" name="Shape 34"/>
          <p:cNvSpPr/>
          <p:nvPr/>
        </p:nvSpPr>
        <p:spPr bwMode="auto">
          <a:xfrm>
            <a:off x="7452360" y="2148840"/>
            <a:ext cx="16459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85230946" name="Text 35"/>
          <p:cNvSpPr/>
          <p:nvPr/>
        </p:nvSpPr>
        <p:spPr bwMode="auto">
          <a:xfrm>
            <a:off x="7452360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GitHub Actions</a:t>
            </a:r>
            <a:endParaRPr lang="en-US" sz="1100"/>
          </a:p>
        </p:txBody>
      </p:sp>
      <p:sp>
        <p:nvSpPr>
          <p:cNvPr id="779465391" name="Shape 36"/>
          <p:cNvSpPr/>
          <p:nvPr/>
        </p:nvSpPr>
        <p:spPr bwMode="auto">
          <a:xfrm>
            <a:off x="7452360" y="2651760"/>
            <a:ext cx="16459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74045021" name="Text 37"/>
          <p:cNvSpPr/>
          <p:nvPr/>
        </p:nvSpPr>
        <p:spPr bwMode="auto">
          <a:xfrm>
            <a:off x="745236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DMG分发</a:t>
            </a:r>
            <a:endParaRPr lang="en-US" sz="1100"/>
          </a:p>
        </p:txBody>
      </p:sp>
      <p:sp>
        <p:nvSpPr>
          <p:cNvPr id="1818565235" name="Text 38"/>
          <p:cNvSpPr/>
          <p:nvPr/>
        </p:nvSpPr>
        <p:spPr bwMode="auto">
          <a:xfrm>
            <a:off x="731520" y="3657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关键技术风险</a:t>
            </a:r>
            <a:endParaRPr lang="en-US" sz="1600"/>
          </a:p>
        </p:txBody>
      </p:sp>
      <p:sp>
        <p:nvSpPr>
          <p:cNvPr id="373129857" name="Text 39"/>
          <p:cNvSpPr/>
          <p:nvPr/>
        </p:nvSpPr>
        <p:spPr bwMode="auto">
          <a:xfrm>
            <a:off x="731520" y="4069080"/>
            <a:ext cx="320040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10160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DeepSeek API不稳定</a:t>
            </a:r>
            <a:endParaRPr lang="en-US" sz="1000"/>
          </a:p>
        </p:txBody>
      </p:sp>
      <p:sp>
        <p:nvSpPr>
          <p:cNvPr id="64768588" name="Text 40"/>
          <p:cNvSpPr/>
          <p:nvPr/>
        </p:nvSpPr>
        <p:spPr bwMode="auto">
          <a:xfrm>
            <a:off x="3931920" y="4069080"/>
            <a:ext cx="91440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中</a:t>
            </a:r>
            <a:endParaRPr lang="en-US" sz="1000"/>
          </a:p>
        </p:txBody>
      </p:sp>
      <p:sp>
        <p:nvSpPr>
          <p:cNvPr id="216527895" name="Text 41"/>
          <p:cNvSpPr/>
          <p:nvPr/>
        </p:nvSpPr>
        <p:spPr bwMode="auto">
          <a:xfrm>
            <a:off x="4846320" y="4069080"/>
            <a:ext cx="356616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10160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实现缓存+备用API</a:t>
            </a:r>
            <a:endParaRPr lang="en-US" sz="1000"/>
          </a:p>
        </p:txBody>
      </p:sp>
      <p:sp>
        <p:nvSpPr>
          <p:cNvPr id="726642049" name="Text 42"/>
          <p:cNvSpPr/>
          <p:nvPr/>
        </p:nvSpPr>
        <p:spPr bwMode="auto">
          <a:xfrm>
            <a:off x="731520" y="4389120"/>
            <a:ext cx="3200400" cy="32004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0" tIns="10160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全局快捷键权限</a:t>
            </a:r>
            <a:endParaRPr lang="en-US" sz="1000"/>
          </a:p>
        </p:txBody>
      </p:sp>
      <p:sp>
        <p:nvSpPr>
          <p:cNvPr id="714354408" name="Text 43"/>
          <p:cNvSpPr/>
          <p:nvPr/>
        </p:nvSpPr>
        <p:spPr bwMode="auto">
          <a:xfrm>
            <a:off x="3931920" y="4389120"/>
            <a:ext cx="914400" cy="32004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中</a:t>
            </a:r>
            <a:endParaRPr lang="en-US" sz="1000"/>
          </a:p>
        </p:txBody>
      </p:sp>
      <p:sp>
        <p:nvSpPr>
          <p:cNvPr id="303459508" name="Text 44"/>
          <p:cNvSpPr/>
          <p:nvPr/>
        </p:nvSpPr>
        <p:spPr bwMode="auto">
          <a:xfrm>
            <a:off x="4846320" y="4389120"/>
            <a:ext cx="3566160" cy="32004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0" tIns="10160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清晰权限申请流程</a:t>
            </a:r>
            <a:endParaRPr lang="en-US" sz="1000"/>
          </a:p>
        </p:txBody>
      </p:sp>
      <p:sp>
        <p:nvSpPr>
          <p:cNvPr id="1880406623" name="Text 45"/>
          <p:cNvSpPr/>
          <p:nvPr/>
        </p:nvSpPr>
        <p:spPr bwMode="auto">
          <a:xfrm>
            <a:off x="731520" y="4709160"/>
            <a:ext cx="320040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10160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macOS系统更新兼容</a:t>
            </a:r>
            <a:endParaRPr lang="en-US" sz="1000"/>
          </a:p>
        </p:txBody>
      </p:sp>
      <p:sp>
        <p:nvSpPr>
          <p:cNvPr id="1878615251" name="Text 46"/>
          <p:cNvSpPr/>
          <p:nvPr/>
        </p:nvSpPr>
        <p:spPr bwMode="auto">
          <a:xfrm>
            <a:off x="3931920" y="4709160"/>
            <a:ext cx="91440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低</a:t>
            </a:r>
            <a:endParaRPr lang="en-US" sz="1000"/>
          </a:p>
        </p:txBody>
      </p:sp>
      <p:sp>
        <p:nvSpPr>
          <p:cNvPr id="598071377" name="Text 47"/>
          <p:cNvSpPr/>
          <p:nvPr/>
        </p:nvSpPr>
        <p:spPr bwMode="auto">
          <a:xfrm>
            <a:off x="4846320" y="4709160"/>
            <a:ext cx="356616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10160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使用原生API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1F5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423787" name="Text 0"/>
          <p:cNvSpPr/>
          <p:nvPr/>
        </p:nvSpPr>
        <p:spPr bwMode="auto"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商业模式</a:t>
            </a:r>
            <a:endParaRPr lang="en-US" sz="2800"/>
          </a:p>
        </p:txBody>
      </p:sp>
      <p:sp>
        <p:nvSpPr>
          <p:cNvPr id="445390725" name="Shape 1"/>
          <p:cNvSpPr/>
          <p:nvPr/>
        </p:nvSpPr>
        <p:spPr bwMode="auto">
          <a:xfrm>
            <a:off x="731520" y="804672"/>
            <a:ext cx="1371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649775677" name="Shape 2"/>
          <p:cNvSpPr/>
          <p:nvPr/>
        </p:nvSpPr>
        <p:spPr bwMode="auto">
          <a:xfrm>
            <a:off x="731520" y="105156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509554780" name="Shape 3"/>
          <p:cNvSpPr/>
          <p:nvPr/>
        </p:nvSpPr>
        <p:spPr bwMode="auto">
          <a:xfrm>
            <a:off x="731520" y="1051560"/>
            <a:ext cx="256032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26928244" name="Text 4"/>
          <p:cNvSpPr/>
          <p:nvPr/>
        </p:nvSpPr>
        <p:spPr bwMode="auto">
          <a:xfrm>
            <a:off x="91440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免费阶段</a:t>
            </a:r>
            <a:endParaRPr lang="en-US" sz="1500"/>
          </a:p>
        </p:txBody>
      </p:sp>
      <p:sp>
        <p:nvSpPr>
          <p:cNvPr id="1609378151" name="Text 5"/>
          <p:cNvSpPr/>
          <p:nvPr/>
        </p:nvSpPr>
        <p:spPr bwMode="auto">
          <a:xfrm>
            <a:off x="914400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0-6个月</a:t>
            </a:r>
            <a:endParaRPr lang="en-US" sz="1000"/>
          </a:p>
        </p:txBody>
      </p:sp>
      <p:sp>
        <p:nvSpPr>
          <p:cNvPr id="1547705921" name="Text 6"/>
          <p:cNvSpPr/>
          <p:nvPr/>
        </p:nvSpPr>
        <p:spPr bwMode="auto">
          <a:xfrm>
            <a:off x="914400" y="1783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全部功能免费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获取用户，验证产品价值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API费用: $50-200/月</a:t>
            </a:r>
            <a:endParaRPr lang="en-US" sz="1100"/>
          </a:p>
        </p:txBody>
      </p:sp>
      <p:sp>
        <p:nvSpPr>
          <p:cNvPr id="1855584073" name="Shape 7"/>
          <p:cNvSpPr/>
          <p:nvPr/>
        </p:nvSpPr>
        <p:spPr bwMode="auto">
          <a:xfrm>
            <a:off x="3520440" y="105156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44504003" name="Shape 8"/>
          <p:cNvSpPr/>
          <p:nvPr/>
        </p:nvSpPr>
        <p:spPr bwMode="auto">
          <a:xfrm>
            <a:off x="3520440" y="1051560"/>
            <a:ext cx="25603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25574189" name="Text 9"/>
          <p:cNvSpPr/>
          <p:nvPr/>
        </p:nvSpPr>
        <p:spPr bwMode="auto">
          <a:xfrm>
            <a:off x="370332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增值阶段</a:t>
            </a:r>
            <a:endParaRPr lang="en-US" sz="1500"/>
          </a:p>
        </p:txBody>
      </p:sp>
      <p:sp>
        <p:nvSpPr>
          <p:cNvPr id="1214796398" name="Text 10"/>
          <p:cNvSpPr/>
          <p:nvPr/>
        </p:nvSpPr>
        <p:spPr bwMode="auto">
          <a:xfrm>
            <a:off x="3703320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6-12个月</a:t>
            </a:r>
            <a:endParaRPr lang="en-US" sz="1000"/>
          </a:p>
        </p:txBody>
      </p:sp>
      <p:sp>
        <p:nvSpPr>
          <p:cNvPr id="546943999" name="Text 11"/>
          <p:cNvSpPr/>
          <p:nvPr/>
        </p:nvSpPr>
        <p:spPr bwMode="auto">
          <a:xfrm>
            <a:off x="3703320" y="1783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免费版50次/天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付费版$4.99/月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无限查询+高级AI+云同步</a:t>
            </a:r>
            <a:endParaRPr lang="en-US" sz="1100"/>
          </a:p>
        </p:txBody>
      </p:sp>
      <p:sp>
        <p:nvSpPr>
          <p:cNvPr id="1533037336" name="Shape 12"/>
          <p:cNvSpPr/>
          <p:nvPr/>
        </p:nvSpPr>
        <p:spPr bwMode="auto">
          <a:xfrm>
            <a:off x="6309360" y="105156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741944727" name="Shape 13"/>
          <p:cNvSpPr/>
          <p:nvPr/>
        </p:nvSpPr>
        <p:spPr bwMode="auto">
          <a:xfrm>
            <a:off x="6309360" y="1051560"/>
            <a:ext cx="25603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05789369" name="Text 14"/>
          <p:cNvSpPr/>
          <p:nvPr/>
        </p:nvSpPr>
        <p:spPr bwMode="auto">
          <a:xfrm>
            <a:off x="649224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规模化</a:t>
            </a:r>
            <a:endParaRPr lang="en-US" sz="1500"/>
          </a:p>
        </p:txBody>
      </p:sp>
      <p:sp>
        <p:nvSpPr>
          <p:cNvPr id="844407244" name="Text 15"/>
          <p:cNvSpPr/>
          <p:nvPr/>
        </p:nvSpPr>
        <p:spPr bwMode="auto">
          <a:xfrm>
            <a:off x="6492240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12个月后</a:t>
            </a:r>
            <a:endParaRPr lang="en-US" sz="1000"/>
          </a:p>
        </p:txBody>
      </p:sp>
      <p:sp>
        <p:nvSpPr>
          <p:cNvPr id="28252306" name="Text 16"/>
          <p:cNvSpPr/>
          <p:nvPr/>
        </p:nvSpPr>
        <p:spPr bwMode="auto">
          <a:xfrm>
            <a:off x="6492240" y="1783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订阅收入为主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企业版（学校/培训机构）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开放API服务</a:t>
            </a:r>
            <a:endParaRPr lang="en-US" sz="1100"/>
          </a:p>
        </p:txBody>
      </p:sp>
      <p:sp>
        <p:nvSpPr>
          <p:cNvPr id="1983677713" name="Text 17"/>
          <p:cNvSpPr/>
          <p:nvPr/>
        </p:nvSpPr>
        <p:spPr bwMode="auto">
          <a:xfrm>
            <a:off x="3383280" y="1828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2000"/>
          </a:p>
        </p:txBody>
      </p:sp>
      <p:sp>
        <p:nvSpPr>
          <p:cNvPr id="588305463" name="Text 18"/>
          <p:cNvSpPr/>
          <p:nvPr/>
        </p:nvSpPr>
        <p:spPr bwMode="auto">
          <a:xfrm>
            <a:off x="6172200" y="1828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2000"/>
          </a:p>
        </p:txBody>
      </p:sp>
      <p:sp>
        <p:nvSpPr>
          <p:cNvPr id="1998404032" name="Text 19"/>
          <p:cNvSpPr/>
          <p:nvPr/>
        </p:nvSpPr>
        <p:spPr bwMode="auto">
          <a:xfrm>
            <a:off x="731520" y="3429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免费版 vs 付费版</a:t>
            </a:r>
            <a:endParaRPr lang="en-US" sz="1600"/>
          </a:p>
        </p:txBody>
      </p:sp>
      <p:graphicFrame>
        <p:nvGraphicFramePr>
          <p:cNvPr id="286209909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731520" y="3794760"/>
          <a:ext cx="768096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560320"/>
                <a:gridCol w="2560320"/>
                <a:gridCol w="2560320"/>
              </a:tblGrid>
              <a:tr h="2743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功能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免费版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付费版 $4.99/月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F172A"/>
                    </a:solidFill>
                  </a:tcPr>
                </a:tc>
              </a:tr>
              <a:tr h="22860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</a:rPr>
                        <a:t>每日查询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50次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无限次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</a:rPr>
                        <a:t>AI模型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DeepSeek-V2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DeepSeek-V3 + GPT-4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</a:rPr>
                        <a:t>生词本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500词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无限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</a:rPr>
                        <a:t>云同步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2795549" name="Text 0"/>
          <p:cNvSpPr/>
          <p:nvPr/>
        </p:nvSpPr>
        <p:spPr bwMode="auto"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财务预测</a:t>
            </a:r>
            <a:endParaRPr lang="en-US" sz="2800"/>
          </a:p>
        </p:txBody>
      </p:sp>
      <p:sp>
        <p:nvSpPr>
          <p:cNvPr id="874370933" name="Shape 1"/>
          <p:cNvSpPr/>
          <p:nvPr/>
        </p:nvSpPr>
        <p:spPr bwMode="auto">
          <a:xfrm>
            <a:off x="731520" y="804672"/>
            <a:ext cx="1371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graphicFrame>
        <p:nvGraphicFramePr>
          <p:cNvPr id="543215443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457200" y="1005840"/>
          <a:ext cx="45720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97218802" name="Shape 2"/>
          <p:cNvSpPr/>
          <p:nvPr/>
        </p:nvSpPr>
        <p:spPr bwMode="auto">
          <a:xfrm>
            <a:off x="5303520" y="1005840"/>
            <a:ext cx="3383280" cy="2926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74977546" name="Text 3"/>
          <p:cNvSpPr/>
          <p:nvPr/>
        </p:nvSpPr>
        <p:spPr bwMode="auto">
          <a:xfrm>
            <a:off x="5486400" y="1097280"/>
            <a:ext cx="30175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关键财务指标</a:t>
            </a:r>
            <a:endParaRPr lang="en-US" sz="1400"/>
          </a:p>
        </p:txBody>
      </p:sp>
      <p:sp>
        <p:nvSpPr>
          <p:cNvPr id="34074188" name="Shape 4"/>
          <p:cNvSpPr/>
          <p:nvPr/>
        </p:nvSpPr>
        <p:spPr bwMode="auto">
          <a:xfrm>
            <a:off x="5486400" y="1554480"/>
            <a:ext cx="3017519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1990008" name="Shape 5"/>
          <p:cNvSpPr/>
          <p:nvPr/>
        </p:nvSpPr>
        <p:spPr bwMode="auto">
          <a:xfrm>
            <a:off x="5486400" y="1554480"/>
            <a:ext cx="45720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7222901" name="Text 6"/>
          <p:cNvSpPr/>
          <p:nvPr/>
        </p:nvSpPr>
        <p:spPr bwMode="auto">
          <a:xfrm>
            <a:off x="5669280" y="15544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毛利率</a:t>
            </a:r>
            <a:endParaRPr lang="en-US" sz="1100"/>
          </a:p>
        </p:txBody>
      </p:sp>
      <p:sp>
        <p:nvSpPr>
          <p:cNvPr id="526916421" name="Text 7"/>
          <p:cNvSpPr/>
          <p:nvPr/>
        </p:nvSpPr>
        <p:spPr bwMode="auto">
          <a:xfrm>
            <a:off x="7132320" y="155448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8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87.9%</a:t>
            </a:r>
            <a:endParaRPr lang="en-US" sz="1800"/>
          </a:p>
        </p:txBody>
      </p:sp>
      <p:sp>
        <p:nvSpPr>
          <p:cNvPr id="1073219161" name="Shape 8"/>
          <p:cNvSpPr/>
          <p:nvPr/>
        </p:nvSpPr>
        <p:spPr bwMode="auto">
          <a:xfrm>
            <a:off x="5486400" y="2103120"/>
            <a:ext cx="3017519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86501101" name="Shape 9"/>
          <p:cNvSpPr/>
          <p:nvPr/>
        </p:nvSpPr>
        <p:spPr bwMode="auto">
          <a:xfrm>
            <a:off x="5486400" y="2103120"/>
            <a:ext cx="45720" cy="43891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11769990" name="Text 10"/>
          <p:cNvSpPr/>
          <p:nvPr/>
        </p:nvSpPr>
        <p:spPr bwMode="auto">
          <a:xfrm>
            <a:off x="5669280" y="210312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回收期</a:t>
            </a:r>
            <a:endParaRPr lang="en-US" sz="1100"/>
          </a:p>
        </p:txBody>
      </p:sp>
      <p:sp>
        <p:nvSpPr>
          <p:cNvPr id="1063982093" name="Text 11"/>
          <p:cNvSpPr/>
          <p:nvPr/>
        </p:nvSpPr>
        <p:spPr bwMode="auto">
          <a:xfrm>
            <a:off x="7132320" y="2103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800" b="1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3.4个月</a:t>
            </a:r>
            <a:endParaRPr lang="en-US" sz="1800"/>
          </a:p>
        </p:txBody>
      </p:sp>
      <p:sp>
        <p:nvSpPr>
          <p:cNvPr id="206863275" name="Shape 12"/>
          <p:cNvSpPr/>
          <p:nvPr/>
        </p:nvSpPr>
        <p:spPr bwMode="auto">
          <a:xfrm>
            <a:off x="5486400" y="2651760"/>
            <a:ext cx="3017519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078495" name="Shape 13"/>
          <p:cNvSpPr/>
          <p:nvPr/>
        </p:nvSpPr>
        <p:spPr bwMode="auto">
          <a:xfrm>
            <a:off x="5486400" y="2651760"/>
            <a:ext cx="45720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8569035" name="Text 14"/>
          <p:cNvSpPr/>
          <p:nvPr/>
        </p:nvSpPr>
        <p:spPr bwMode="auto">
          <a:xfrm>
            <a:off x="5669280" y="26517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LTV/CAC</a:t>
            </a:r>
            <a:endParaRPr lang="en-US" sz="1100"/>
          </a:p>
        </p:txBody>
      </p:sp>
      <p:sp>
        <p:nvSpPr>
          <p:cNvPr id="943332752" name="Text 15"/>
          <p:cNvSpPr/>
          <p:nvPr/>
        </p:nvSpPr>
        <p:spPr bwMode="auto">
          <a:xfrm>
            <a:off x="7132320" y="265176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8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3.2:1</a:t>
            </a:r>
            <a:endParaRPr lang="en-US" sz="1800"/>
          </a:p>
        </p:txBody>
      </p:sp>
      <p:sp>
        <p:nvSpPr>
          <p:cNvPr id="701979417" name="Shape 16"/>
          <p:cNvSpPr/>
          <p:nvPr/>
        </p:nvSpPr>
        <p:spPr bwMode="auto">
          <a:xfrm>
            <a:off x="5486400" y="3200400"/>
            <a:ext cx="3017519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98006283" name="Shape 17"/>
          <p:cNvSpPr/>
          <p:nvPr/>
        </p:nvSpPr>
        <p:spPr bwMode="auto">
          <a:xfrm>
            <a:off x="5486400" y="3200400"/>
            <a:ext cx="45720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99935154" name="Text 18"/>
          <p:cNvSpPr/>
          <p:nvPr/>
        </p:nvSpPr>
        <p:spPr bwMode="auto">
          <a:xfrm>
            <a:off x="5669280" y="32004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盈亏平衡</a:t>
            </a:r>
            <a:endParaRPr lang="en-US" sz="1100"/>
          </a:p>
        </p:txBody>
      </p:sp>
      <p:sp>
        <p:nvSpPr>
          <p:cNvPr id="946081977" name="Text 19"/>
          <p:cNvSpPr/>
          <p:nvPr/>
        </p:nvSpPr>
        <p:spPr bwMode="auto">
          <a:xfrm>
            <a:off x="7132320" y="32004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8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57人</a:t>
            </a:r>
            <a:endParaRPr lang="en-US" sz="1800"/>
          </a:p>
        </p:txBody>
      </p:sp>
      <p:sp>
        <p:nvSpPr>
          <p:cNvPr id="2083953342" name="Shape 20"/>
          <p:cNvSpPr/>
          <p:nvPr/>
        </p:nvSpPr>
        <p:spPr bwMode="auto">
          <a:xfrm>
            <a:off x="731520" y="4160519"/>
            <a:ext cx="7680960" cy="6400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1657309" name="Text 21"/>
          <p:cNvSpPr/>
          <p:nvPr/>
        </p:nvSpPr>
        <p:spPr bwMode="auto">
          <a:xfrm>
            <a:off x="731520" y="4160519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保守场景: </a:t>
            </a: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3年累计收入$188,500 | </a:t>
            </a:r>
            <a:r>
              <a:rPr lang="en-US" sz="11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乐观场景: </a:t>
            </a: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3年累计收入$1,600,000 | 利润率 66-77%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42990" name="Text 0"/>
          <p:cNvSpPr/>
          <p:nvPr/>
        </p:nvSpPr>
        <p:spPr bwMode="auto"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单位经济模型</a:t>
            </a:r>
            <a:endParaRPr lang="en-US" sz="2800"/>
          </a:p>
        </p:txBody>
      </p:sp>
      <p:sp>
        <p:nvSpPr>
          <p:cNvPr id="1438295950" name="Shape 1"/>
          <p:cNvSpPr/>
          <p:nvPr/>
        </p:nvSpPr>
        <p:spPr bwMode="auto">
          <a:xfrm>
            <a:off x="731520" y="804672"/>
            <a:ext cx="1371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316075810" name="Shape 2"/>
          <p:cNvSpPr/>
          <p:nvPr/>
        </p:nvSpPr>
        <p:spPr bwMode="auto">
          <a:xfrm>
            <a:off x="731520" y="1051560"/>
            <a:ext cx="393192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27002946" name="Shape 3"/>
          <p:cNvSpPr/>
          <p:nvPr/>
        </p:nvSpPr>
        <p:spPr bwMode="auto">
          <a:xfrm>
            <a:off x="731520" y="1051560"/>
            <a:ext cx="393192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91186376" name="Text 4"/>
          <p:cNvSpPr/>
          <p:nvPr/>
        </p:nvSpPr>
        <p:spPr bwMode="auto">
          <a:xfrm>
            <a:off x="91440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免费用户单位成本</a:t>
            </a:r>
            <a:endParaRPr lang="en-US" sz="1400"/>
          </a:p>
        </p:txBody>
      </p:sp>
      <p:sp>
        <p:nvSpPr>
          <p:cNvPr id="2101307134" name="Text 5"/>
          <p:cNvSpPr/>
          <p:nvPr/>
        </p:nvSpPr>
        <p:spPr bwMode="auto">
          <a:xfrm>
            <a:off x="914400" y="15544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API调用: 500次 x $0.0002 = $0.10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服务器分摊: $0.05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存储成本: 可忽略</a:t>
            </a:r>
            <a:endParaRPr lang="en-US" sz="1100"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r>
              <a:rPr lang="en-US" sz="1400" b="1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单免费用户月成本: $0.15</a:t>
            </a:r>
            <a:endParaRPr lang="en-US" sz="1100"/>
          </a:p>
        </p:txBody>
      </p:sp>
      <p:sp>
        <p:nvSpPr>
          <p:cNvPr id="396097048" name="Shape 6"/>
          <p:cNvSpPr/>
          <p:nvPr/>
        </p:nvSpPr>
        <p:spPr bwMode="auto">
          <a:xfrm>
            <a:off x="4846320" y="1051560"/>
            <a:ext cx="393192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63969954" name="Shape 7"/>
          <p:cNvSpPr/>
          <p:nvPr/>
        </p:nvSpPr>
        <p:spPr bwMode="auto">
          <a:xfrm>
            <a:off x="4846320" y="1051560"/>
            <a:ext cx="39319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1206667" name="Text 8"/>
          <p:cNvSpPr/>
          <p:nvPr/>
        </p:nvSpPr>
        <p:spPr bwMode="auto">
          <a:xfrm>
            <a:off x="502920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付费用户单位经济</a:t>
            </a:r>
            <a:endParaRPr lang="en-US" sz="1400"/>
          </a:p>
        </p:txBody>
      </p:sp>
      <p:sp>
        <p:nvSpPr>
          <p:cNvPr id="1403000974" name="Text 9"/>
          <p:cNvSpPr/>
          <p:nvPr/>
        </p:nvSpPr>
        <p:spPr bwMode="auto">
          <a:xfrm>
            <a:off x="5029200" y="15544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收入: $4.99/月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成本: API $0.40 + 服务器 $0.05 + Stripe $0.15</a:t>
            </a:r>
            <a:endParaRPr lang="en-US" sz="1100"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r>
              <a:rPr lang="en-US" sz="14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毛利: $4.39   毛利率: 87.9%</a:t>
            </a:r>
            <a:endParaRPr lang="en-US" sz="1100"/>
          </a:p>
        </p:txBody>
      </p:sp>
      <p:sp>
        <p:nvSpPr>
          <p:cNvPr id="1145508556" name="Shape 10"/>
          <p:cNvSpPr/>
          <p:nvPr/>
        </p:nvSpPr>
        <p:spPr bwMode="auto">
          <a:xfrm>
            <a:off x="731520" y="3108960"/>
            <a:ext cx="393192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66341156" name="Shape 11"/>
          <p:cNvSpPr/>
          <p:nvPr/>
        </p:nvSpPr>
        <p:spPr bwMode="auto">
          <a:xfrm>
            <a:off x="731520" y="3108960"/>
            <a:ext cx="39319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61876964" name="Text 12"/>
          <p:cNvSpPr/>
          <p:nvPr/>
        </p:nvSpPr>
        <p:spPr bwMode="auto">
          <a:xfrm>
            <a:off x="91440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客户终身价值 (LTV)</a:t>
            </a:r>
            <a:endParaRPr lang="en-US" sz="1400"/>
          </a:p>
        </p:txBody>
      </p:sp>
      <p:sp>
        <p:nvSpPr>
          <p:cNvPr id="1495712981" name="Text 13"/>
          <p:cNvSpPr/>
          <p:nvPr/>
        </p:nvSpPr>
        <p:spPr bwMode="auto">
          <a:xfrm>
            <a:off x="914400" y="36118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$4.99 x 12个月 x 80% = </a:t>
            </a:r>
            <a:r>
              <a:rPr lang="en-US" sz="20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$47.90</a:t>
            </a:r>
            <a:endParaRPr lang="en-US" sz="1200"/>
          </a:p>
          <a:p>
            <a:pPr marL="0" indent="0">
              <a:buNone/>
              <a:defRPr/>
            </a:pPr>
            <a:endParaRPr lang="en-US" sz="1200"/>
          </a:p>
          <a:p>
            <a:pPr marL="0" indent="0">
              <a:buNone/>
              <a:defRPr/>
            </a:pPr>
            <a:r>
              <a:rPr lang="en-US" sz="12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LTV/CAC = $47.90 / $15 = 3.2:1</a:t>
            </a:r>
            <a:endParaRPr lang="en-US" sz="1200"/>
          </a:p>
        </p:txBody>
      </p:sp>
      <p:sp>
        <p:nvSpPr>
          <p:cNvPr id="336841731" name="Shape 14"/>
          <p:cNvSpPr/>
          <p:nvPr/>
        </p:nvSpPr>
        <p:spPr bwMode="auto">
          <a:xfrm>
            <a:off x="4846320" y="3108960"/>
            <a:ext cx="393192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15596487" name="Shape 15"/>
          <p:cNvSpPr/>
          <p:nvPr/>
        </p:nvSpPr>
        <p:spPr bwMode="auto">
          <a:xfrm>
            <a:off x="4846320" y="3108960"/>
            <a:ext cx="39319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51142108" name="Text 16"/>
          <p:cNvSpPr/>
          <p:nvPr/>
        </p:nvSpPr>
        <p:spPr bwMode="auto">
          <a:xfrm>
            <a:off x="502920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盈亏平衡点</a:t>
            </a:r>
            <a:endParaRPr lang="en-US" sz="1400"/>
          </a:p>
        </p:txBody>
      </p:sp>
      <p:sp>
        <p:nvSpPr>
          <p:cNvPr id="11249205" name="Text 17"/>
          <p:cNvSpPr/>
          <p:nvPr/>
        </p:nvSpPr>
        <p:spPr bwMode="auto">
          <a:xfrm>
            <a:off x="5029200" y="36118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月度固定成本: $250</a:t>
            </a:r>
            <a:endParaRPr lang="en-US" sz="1200"/>
          </a:p>
          <a:p>
            <a:pPr marL="0" indent="0">
              <a:buNone/>
              <a:defRPr/>
            </a:pPr>
            <a:r>
              <a:rPr lang="en-US" sz="12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付费用户毛利: $4.39/人</a:t>
            </a:r>
            <a:endParaRPr lang="en-US" sz="1200"/>
          </a:p>
          <a:p>
            <a:pPr marL="0" indent="0">
              <a:buNone/>
              <a:defRPr/>
            </a:pPr>
            <a:endParaRPr lang="en-US" sz="1200"/>
          </a:p>
          <a:p>
            <a:pPr marL="0" indent="0">
              <a:buNone/>
              <a:defRPr/>
            </a:pPr>
            <a:r>
              <a:rPr lang="en-US" sz="1600" b="1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每57个付费用户即可盈亏平衡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1F5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761805" name="Text 0"/>
          <p:cNvSpPr/>
          <p:nvPr/>
        </p:nvSpPr>
        <p:spPr bwMode="auto"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增长策略</a:t>
            </a:r>
            <a:endParaRPr lang="en-US" sz="2800"/>
          </a:p>
        </p:txBody>
      </p:sp>
      <p:sp>
        <p:nvSpPr>
          <p:cNvPr id="1435833719" name="Shape 1"/>
          <p:cNvSpPr/>
          <p:nvPr/>
        </p:nvSpPr>
        <p:spPr bwMode="auto">
          <a:xfrm>
            <a:off x="731520" y="804672"/>
            <a:ext cx="1371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906197281" name="Shape 2"/>
          <p:cNvSpPr/>
          <p:nvPr/>
        </p:nvSpPr>
        <p:spPr bwMode="auto">
          <a:xfrm>
            <a:off x="731520" y="1051560"/>
            <a:ext cx="25603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364541420" name="Shape 3"/>
          <p:cNvSpPr/>
          <p:nvPr/>
        </p:nvSpPr>
        <p:spPr bwMode="auto">
          <a:xfrm>
            <a:off x="731520" y="1051560"/>
            <a:ext cx="45720" cy="1143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9581221" name="Text 4"/>
          <p:cNvSpPr/>
          <p:nvPr/>
        </p:nvSpPr>
        <p:spPr bwMode="auto">
          <a:xfrm>
            <a:off x="914400" y="1124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Product Hunt</a:t>
            </a:r>
            <a:endParaRPr lang="en-US" sz="1300"/>
          </a:p>
        </p:txBody>
      </p:sp>
      <p:sp>
        <p:nvSpPr>
          <p:cNvPr id="1273762254" name="Text 5"/>
          <p:cNvSpPr/>
          <p:nvPr/>
        </p:nvSpPr>
        <p:spPr bwMode="auto">
          <a:xfrm>
            <a:off x="914400" y="139903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CAC: $0-50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获客质量: 5/5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优先级: P0</a:t>
            </a:r>
            <a:endParaRPr lang="en-US" sz="1000"/>
          </a:p>
        </p:txBody>
      </p:sp>
      <p:sp>
        <p:nvSpPr>
          <p:cNvPr id="1036321896" name="Shape 6"/>
          <p:cNvSpPr/>
          <p:nvPr/>
        </p:nvSpPr>
        <p:spPr bwMode="auto">
          <a:xfrm>
            <a:off x="3520440" y="1051560"/>
            <a:ext cx="25603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171609710" name="Shape 7"/>
          <p:cNvSpPr/>
          <p:nvPr/>
        </p:nvSpPr>
        <p:spPr bwMode="auto">
          <a:xfrm>
            <a:off x="3520440" y="1051560"/>
            <a:ext cx="45720" cy="1143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31046645" name="Text 8"/>
          <p:cNvSpPr/>
          <p:nvPr/>
        </p:nvSpPr>
        <p:spPr bwMode="auto">
          <a:xfrm>
            <a:off x="3703320" y="1124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Reddit社区</a:t>
            </a:r>
            <a:endParaRPr lang="en-US" sz="1300"/>
          </a:p>
        </p:txBody>
      </p:sp>
      <p:sp>
        <p:nvSpPr>
          <p:cNvPr id="668267558" name="Text 9"/>
          <p:cNvSpPr/>
          <p:nvPr/>
        </p:nvSpPr>
        <p:spPr bwMode="auto">
          <a:xfrm>
            <a:off x="3703320" y="139903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CAC: $0-20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获客质量: 4/5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优先级: P0</a:t>
            </a:r>
            <a:endParaRPr lang="en-US" sz="1000"/>
          </a:p>
        </p:txBody>
      </p:sp>
      <p:sp>
        <p:nvSpPr>
          <p:cNvPr id="990564825" name="Shape 10"/>
          <p:cNvSpPr/>
          <p:nvPr/>
        </p:nvSpPr>
        <p:spPr bwMode="auto">
          <a:xfrm>
            <a:off x="6309360" y="1051560"/>
            <a:ext cx="25603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762759351" name="Shape 11"/>
          <p:cNvSpPr/>
          <p:nvPr/>
        </p:nvSpPr>
        <p:spPr bwMode="auto">
          <a:xfrm>
            <a:off x="6309360" y="1051560"/>
            <a:ext cx="45720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18255451" name="Text 12"/>
          <p:cNvSpPr/>
          <p:nvPr/>
        </p:nvSpPr>
        <p:spPr bwMode="auto">
          <a:xfrm>
            <a:off x="6492240" y="1124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SEO/内容营销</a:t>
            </a:r>
            <a:endParaRPr lang="en-US" sz="1300"/>
          </a:p>
        </p:txBody>
      </p:sp>
      <p:sp>
        <p:nvSpPr>
          <p:cNvPr id="326083847" name="Text 13"/>
          <p:cNvSpPr/>
          <p:nvPr/>
        </p:nvSpPr>
        <p:spPr bwMode="auto">
          <a:xfrm>
            <a:off x="6492240" y="139903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CAC: $100-300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获客质量: 4/5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优先级: P1</a:t>
            </a:r>
            <a:endParaRPr lang="en-US" sz="1000"/>
          </a:p>
        </p:txBody>
      </p:sp>
      <p:sp>
        <p:nvSpPr>
          <p:cNvPr id="1088273411" name="Shape 14"/>
          <p:cNvSpPr/>
          <p:nvPr/>
        </p:nvSpPr>
        <p:spPr bwMode="auto">
          <a:xfrm>
            <a:off x="731520" y="2377440"/>
            <a:ext cx="25603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1057447175" name="Shape 15"/>
          <p:cNvSpPr/>
          <p:nvPr/>
        </p:nvSpPr>
        <p:spPr bwMode="auto">
          <a:xfrm>
            <a:off x="731520" y="2377440"/>
            <a:ext cx="45720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81178335" name="Text 16"/>
          <p:cNvSpPr/>
          <p:nvPr/>
        </p:nvSpPr>
        <p:spPr bwMode="auto">
          <a:xfrm>
            <a:off x="914400" y="2450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YouTube合作</a:t>
            </a:r>
            <a:endParaRPr lang="en-US" sz="1300"/>
          </a:p>
        </p:txBody>
      </p:sp>
      <p:sp>
        <p:nvSpPr>
          <p:cNvPr id="1631208784" name="Text 17"/>
          <p:cNvSpPr/>
          <p:nvPr/>
        </p:nvSpPr>
        <p:spPr bwMode="auto">
          <a:xfrm>
            <a:off x="914400" y="2724911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CAC: $200-500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获客质量: 5/5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优先级: P1</a:t>
            </a:r>
            <a:endParaRPr lang="en-US" sz="1000"/>
          </a:p>
        </p:txBody>
      </p:sp>
      <p:sp>
        <p:nvSpPr>
          <p:cNvPr id="1780989607" name="Shape 18"/>
          <p:cNvSpPr/>
          <p:nvPr/>
        </p:nvSpPr>
        <p:spPr bwMode="auto">
          <a:xfrm>
            <a:off x="3520440" y="2377440"/>
            <a:ext cx="25603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978097374" name="Shape 19"/>
          <p:cNvSpPr/>
          <p:nvPr/>
        </p:nvSpPr>
        <p:spPr bwMode="auto">
          <a:xfrm>
            <a:off x="3520440" y="2377440"/>
            <a:ext cx="45720" cy="1143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009634" name="Text 20"/>
          <p:cNvSpPr/>
          <p:nvPr/>
        </p:nvSpPr>
        <p:spPr bwMode="auto">
          <a:xfrm>
            <a:off x="3703320" y="2450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V2EX/小众软件</a:t>
            </a:r>
            <a:endParaRPr lang="en-US" sz="1300"/>
          </a:p>
        </p:txBody>
      </p:sp>
      <p:sp>
        <p:nvSpPr>
          <p:cNvPr id="1071161869" name="Text 21"/>
          <p:cNvSpPr/>
          <p:nvPr/>
        </p:nvSpPr>
        <p:spPr bwMode="auto">
          <a:xfrm>
            <a:off x="3703320" y="2724911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CAC: $0-30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获客质量: 5/5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优先级: P0</a:t>
            </a:r>
            <a:endParaRPr lang="en-US" sz="1000"/>
          </a:p>
        </p:txBody>
      </p:sp>
      <p:sp>
        <p:nvSpPr>
          <p:cNvPr id="192879876" name="Shape 22"/>
          <p:cNvSpPr/>
          <p:nvPr/>
        </p:nvSpPr>
        <p:spPr bwMode="auto">
          <a:xfrm>
            <a:off x="6309360" y="2377440"/>
            <a:ext cx="25603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1176032015" name="Shape 23"/>
          <p:cNvSpPr/>
          <p:nvPr/>
        </p:nvSpPr>
        <p:spPr bwMode="auto">
          <a:xfrm>
            <a:off x="6309360" y="2377440"/>
            <a:ext cx="45720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58592364" name="Text 24"/>
          <p:cNvSpPr/>
          <p:nvPr/>
        </p:nvSpPr>
        <p:spPr bwMode="auto">
          <a:xfrm>
            <a:off x="6492240" y="2450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付费广告</a:t>
            </a:r>
            <a:endParaRPr lang="en-US" sz="1300"/>
          </a:p>
        </p:txBody>
      </p:sp>
      <p:sp>
        <p:nvSpPr>
          <p:cNvPr id="748582624" name="Text 25"/>
          <p:cNvSpPr/>
          <p:nvPr/>
        </p:nvSpPr>
        <p:spPr bwMode="auto">
          <a:xfrm>
            <a:off x="6492240" y="2724911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CAC: $500+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获客质量: 3/5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优先级: P2</a:t>
            </a:r>
            <a:endParaRPr lang="en-US" sz="1000"/>
          </a:p>
        </p:txBody>
      </p:sp>
      <p:sp>
        <p:nvSpPr>
          <p:cNvPr id="1106392413" name="Text 26"/>
          <p:cNvSpPr/>
          <p:nvPr/>
        </p:nvSpPr>
        <p:spPr bwMode="auto">
          <a:xfrm>
            <a:off x="731520" y="38862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病毒传播机制</a:t>
            </a:r>
            <a:endParaRPr lang="en-US" sz="1600"/>
          </a:p>
        </p:txBody>
      </p:sp>
      <p:sp>
        <p:nvSpPr>
          <p:cNvPr id="1623745167" name="Shape 27"/>
          <p:cNvSpPr/>
          <p:nvPr/>
        </p:nvSpPr>
        <p:spPr bwMode="auto">
          <a:xfrm>
            <a:off x="731520" y="4251960"/>
            <a:ext cx="256032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65033628" name="Text 28"/>
          <p:cNvSpPr/>
          <p:nvPr/>
        </p:nvSpPr>
        <p:spPr bwMode="auto">
          <a:xfrm>
            <a:off x="868680" y="4279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生词卡片分享</a:t>
            </a:r>
            <a:endParaRPr lang="en-US" sz="1100"/>
          </a:p>
        </p:txBody>
      </p:sp>
      <p:sp>
        <p:nvSpPr>
          <p:cNvPr id="1979959151" name="Text 29"/>
          <p:cNvSpPr/>
          <p:nvPr/>
        </p:nvSpPr>
        <p:spPr bwMode="auto">
          <a:xfrm>
            <a:off x="868680" y="4507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精美设计的单词卡片，一键分享到社交媒体</a:t>
            </a:r>
            <a:endParaRPr lang="en-US" sz="900"/>
          </a:p>
        </p:txBody>
      </p:sp>
      <p:sp>
        <p:nvSpPr>
          <p:cNvPr id="1598196085" name="Shape 30"/>
          <p:cNvSpPr/>
          <p:nvPr/>
        </p:nvSpPr>
        <p:spPr bwMode="auto">
          <a:xfrm>
            <a:off x="3520440" y="4251960"/>
            <a:ext cx="256032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0818776" name="Text 31"/>
          <p:cNvSpPr/>
          <p:nvPr/>
        </p:nvSpPr>
        <p:spPr bwMode="auto">
          <a:xfrm>
            <a:off x="3657600" y="4279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学习成就</a:t>
            </a:r>
            <a:endParaRPr lang="en-US" sz="1100"/>
          </a:p>
        </p:txBody>
      </p:sp>
      <p:sp>
        <p:nvSpPr>
          <p:cNvPr id="983903338" name="Text 32"/>
          <p:cNvSpPr/>
          <p:nvPr/>
        </p:nvSpPr>
        <p:spPr bwMode="auto">
          <a:xfrm>
            <a:off x="3657600" y="4507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连续打卡记录、词汇量增长曲线</a:t>
            </a:r>
            <a:endParaRPr lang="en-US" sz="900"/>
          </a:p>
        </p:txBody>
      </p:sp>
      <p:sp>
        <p:nvSpPr>
          <p:cNvPr id="1226685605" name="Shape 33"/>
          <p:cNvSpPr/>
          <p:nvPr/>
        </p:nvSpPr>
        <p:spPr bwMode="auto">
          <a:xfrm>
            <a:off x="6309360" y="4251960"/>
            <a:ext cx="256032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48541170" name="Text 34"/>
          <p:cNvSpPr/>
          <p:nvPr/>
        </p:nvSpPr>
        <p:spPr bwMode="auto">
          <a:xfrm>
            <a:off x="6446520" y="4279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推荐奖励</a:t>
            </a:r>
            <a:endParaRPr lang="en-US" sz="1100"/>
          </a:p>
        </p:txBody>
      </p:sp>
      <p:sp>
        <p:nvSpPr>
          <p:cNvPr id="498288224" name="Text 35"/>
          <p:cNvSpPr/>
          <p:nvPr/>
        </p:nvSpPr>
        <p:spPr bwMode="auto">
          <a:xfrm>
            <a:off x="6446520" y="4507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推荐+7天付费体验，被推荐人同样获得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4094555" name="Text 0"/>
          <p:cNvSpPr/>
          <p:nvPr/>
        </p:nvSpPr>
        <p:spPr bwMode="auto"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实施路线图</a:t>
            </a:r>
            <a:endParaRPr lang="en-US" sz="2800"/>
          </a:p>
        </p:txBody>
      </p:sp>
      <p:sp>
        <p:nvSpPr>
          <p:cNvPr id="755925321" name="Shape 1"/>
          <p:cNvSpPr/>
          <p:nvPr/>
        </p:nvSpPr>
        <p:spPr bwMode="auto">
          <a:xfrm>
            <a:off x="731520" y="804672"/>
            <a:ext cx="1371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680104611" name="Shape 2"/>
          <p:cNvSpPr/>
          <p:nvPr/>
        </p:nvSpPr>
        <p:spPr bwMode="auto">
          <a:xfrm>
            <a:off x="731520" y="1645920"/>
            <a:ext cx="76809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481973072" name="Shape 3"/>
          <p:cNvSpPr/>
          <p:nvPr/>
        </p:nvSpPr>
        <p:spPr bwMode="auto">
          <a:xfrm>
            <a:off x="1051560" y="1554480"/>
            <a:ext cx="182880" cy="1828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64657347" name="Text 4"/>
          <p:cNvSpPr/>
          <p:nvPr/>
        </p:nvSpPr>
        <p:spPr bwMode="auto">
          <a:xfrm>
            <a:off x="548640" y="1143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M1-2</a:t>
            </a:r>
            <a:endParaRPr lang="en-US" sz="1000"/>
          </a:p>
        </p:txBody>
      </p:sp>
      <p:sp>
        <p:nvSpPr>
          <p:cNvPr id="1367192838" name="Shape 5"/>
          <p:cNvSpPr/>
          <p:nvPr/>
        </p:nvSpPr>
        <p:spPr bwMode="auto">
          <a:xfrm>
            <a:off x="548640" y="1920240"/>
            <a:ext cx="118872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00435956" name="Shape 6"/>
          <p:cNvSpPr/>
          <p:nvPr/>
        </p:nvSpPr>
        <p:spPr bwMode="auto">
          <a:xfrm>
            <a:off x="548640" y="1920240"/>
            <a:ext cx="11887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12592021" name="Text 7"/>
          <p:cNvSpPr/>
          <p:nvPr/>
        </p:nvSpPr>
        <p:spPr bwMode="auto">
          <a:xfrm>
            <a:off x="640080" y="19933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Phase 1</a:t>
            </a:r>
            <a:endParaRPr lang="en-US" sz="900"/>
          </a:p>
        </p:txBody>
      </p:sp>
      <p:sp>
        <p:nvSpPr>
          <p:cNvPr id="907857371" name="Text 8"/>
          <p:cNvSpPr/>
          <p:nvPr/>
        </p:nvSpPr>
        <p:spPr bwMode="auto">
          <a:xfrm>
            <a:off x="640080" y="2240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MVP开发</a:t>
            </a:r>
            <a:endParaRPr lang="en-US" sz="1200"/>
          </a:p>
        </p:txBody>
      </p:sp>
      <p:sp>
        <p:nvSpPr>
          <p:cNvPr id="339624540" name="Shape 9"/>
          <p:cNvSpPr/>
          <p:nvPr/>
        </p:nvSpPr>
        <p:spPr bwMode="auto">
          <a:xfrm>
            <a:off x="2606040" y="155448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35895779" name="Text 10"/>
          <p:cNvSpPr/>
          <p:nvPr/>
        </p:nvSpPr>
        <p:spPr bwMode="auto">
          <a:xfrm>
            <a:off x="2103120" y="1143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M3-4</a:t>
            </a:r>
            <a:endParaRPr lang="en-US" sz="1000"/>
          </a:p>
        </p:txBody>
      </p:sp>
      <p:sp>
        <p:nvSpPr>
          <p:cNvPr id="2083887488" name="Shape 11"/>
          <p:cNvSpPr/>
          <p:nvPr/>
        </p:nvSpPr>
        <p:spPr bwMode="auto">
          <a:xfrm>
            <a:off x="2103120" y="1920240"/>
            <a:ext cx="118872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91480209" name="Shape 12"/>
          <p:cNvSpPr/>
          <p:nvPr/>
        </p:nvSpPr>
        <p:spPr bwMode="auto">
          <a:xfrm>
            <a:off x="2103120" y="1920240"/>
            <a:ext cx="11887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57080070" name="Text 13"/>
          <p:cNvSpPr/>
          <p:nvPr/>
        </p:nvSpPr>
        <p:spPr bwMode="auto">
          <a:xfrm>
            <a:off x="2194560" y="19933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Phase 2</a:t>
            </a:r>
            <a:endParaRPr lang="en-US" sz="900"/>
          </a:p>
        </p:txBody>
      </p:sp>
      <p:sp>
        <p:nvSpPr>
          <p:cNvPr id="1622614398" name="Text 14"/>
          <p:cNvSpPr/>
          <p:nvPr/>
        </p:nvSpPr>
        <p:spPr bwMode="auto">
          <a:xfrm>
            <a:off x="2194560" y="2240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测试发布</a:t>
            </a:r>
            <a:endParaRPr lang="en-US" sz="1200"/>
          </a:p>
        </p:txBody>
      </p:sp>
      <p:sp>
        <p:nvSpPr>
          <p:cNvPr id="1134724824" name="Shape 15"/>
          <p:cNvSpPr/>
          <p:nvPr/>
        </p:nvSpPr>
        <p:spPr bwMode="auto">
          <a:xfrm>
            <a:off x="4160519" y="155448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09915363" name="Text 16"/>
          <p:cNvSpPr/>
          <p:nvPr/>
        </p:nvSpPr>
        <p:spPr bwMode="auto">
          <a:xfrm>
            <a:off x="3657600" y="1143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M5-6</a:t>
            </a:r>
            <a:endParaRPr lang="en-US" sz="1000"/>
          </a:p>
        </p:txBody>
      </p:sp>
      <p:sp>
        <p:nvSpPr>
          <p:cNvPr id="1969008122" name="Shape 17"/>
          <p:cNvSpPr/>
          <p:nvPr/>
        </p:nvSpPr>
        <p:spPr bwMode="auto">
          <a:xfrm>
            <a:off x="3657600" y="1920240"/>
            <a:ext cx="118872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74737970" name="Shape 18"/>
          <p:cNvSpPr/>
          <p:nvPr/>
        </p:nvSpPr>
        <p:spPr bwMode="auto">
          <a:xfrm>
            <a:off x="3657600" y="1920240"/>
            <a:ext cx="11887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63210141" name="Text 19"/>
          <p:cNvSpPr/>
          <p:nvPr/>
        </p:nvSpPr>
        <p:spPr bwMode="auto">
          <a:xfrm>
            <a:off x="3749040" y="19933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Phase 3</a:t>
            </a:r>
            <a:endParaRPr lang="en-US" sz="900"/>
          </a:p>
        </p:txBody>
      </p:sp>
      <p:sp>
        <p:nvSpPr>
          <p:cNvPr id="1368505103" name="Text 20"/>
          <p:cNvSpPr/>
          <p:nvPr/>
        </p:nvSpPr>
        <p:spPr bwMode="auto">
          <a:xfrm>
            <a:off x="3749040" y="2240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运营基建</a:t>
            </a:r>
            <a:endParaRPr lang="en-US" sz="1200"/>
          </a:p>
        </p:txBody>
      </p:sp>
      <p:sp>
        <p:nvSpPr>
          <p:cNvPr id="612774603" name="Shape 21"/>
          <p:cNvSpPr/>
          <p:nvPr/>
        </p:nvSpPr>
        <p:spPr bwMode="auto">
          <a:xfrm>
            <a:off x="5715000" y="1554480"/>
            <a:ext cx="182880" cy="1828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304647776" name="Text 22"/>
          <p:cNvSpPr/>
          <p:nvPr/>
        </p:nvSpPr>
        <p:spPr bwMode="auto">
          <a:xfrm>
            <a:off x="5212080" y="1143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M7-9</a:t>
            </a:r>
            <a:endParaRPr lang="en-US" sz="1000"/>
          </a:p>
        </p:txBody>
      </p:sp>
      <p:sp>
        <p:nvSpPr>
          <p:cNvPr id="510172239" name="Shape 23"/>
          <p:cNvSpPr/>
          <p:nvPr/>
        </p:nvSpPr>
        <p:spPr bwMode="auto">
          <a:xfrm>
            <a:off x="5212080" y="1920240"/>
            <a:ext cx="118872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53518992" name="Shape 24"/>
          <p:cNvSpPr/>
          <p:nvPr/>
        </p:nvSpPr>
        <p:spPr bwMode="auto">
          <a:xfrm>
            <a:off x="5212080" y="1920240"/>
            <a:ext cx="118872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38251685" name="Text 25"/>
          <p:cNvSpPr/>
          <p:nvPr/>
        </p:nvSpPr>
        <p:spPr bwMode="auto">
          <a:xfrm>
            <a:off x="5303520" y="19933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A855F7"/>
                </a:solidFill>
                <a:latin typeface="Calibri"/>
                <a:ea typeface="Calibri"/>
                <a:cs typeface="Calibri"/>
              </a:rPr>
              <a:t>Phase 4</a:t>
            </a:r>
            <a:endParaRPr lang="en-US" sz="900"/>
          </a:p>
        </p:txBody>
      </p:sp>
      <p:sp>
        <p:nvSpPr>
          <p:cNvPr id="1286387153" name="Text 26"/>
          <p:cNvSpPr/>
          <p:nvPr/>
        </p:nvSpPr>
        <p:spPr bwMode="auto">
          <a:xfrm>
            <a:off x="5303520" y="2240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平台扩展</a:t>
            </a:r>
            <a:endParaRPr lang="en-US" sz="1200"/>
          </a:p>
        </p:txBody>
      </p:sp>
      <p:sp>
        <p:nvSpPr>
          <p:cNvPr id="2096493376" name="Shape 27"/>
          <p:cNvSpPr/>
          <p:nvPr/>
        </p:nvSpPr>
        <p:spPr bwMode="auto">
          <a:xfrm>
            <a:off x="7543800" y="155448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16392249" name="Text 28"/>
          <p:cNvSpPr/>
          <p:nvPr/>
        </p:nvSpPr>
        <p:spPr bwMode="auto">
          <a:xfrm>
            <a:off x="7040880" y="1143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M10-12</a:t>
            </a:r>
            <a:endParaRPr lang="en-US" sz="1000"/>
          </a:p>
        </p:txBody>
      </p:sp>
      <p:sp>
        <p:nvSpPr>
          <p:cNvPr id="980360104" name="Shape 29"/>
          <p:cNvSpPr/>
          <p:nvPr/>
        </p:nvSpPr>
        <p:spPr bwMode="auto">
          <a:xfrm>
            <a:off x="7040880" y="1920240"/>
            <a:ext cx="118872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6960580" name="Shape 30"/>
          <p:cNvSpPr/>
          <p:nvPr/>
        </p:nvSpPr>
        <p:spPr bwMode="auto">
          <a:xfrm>
            <a:off x="7040880" y="1920240"/>
            <a:ext cx="118872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65326990" name="Text 31"/>
          <p:cNvSpPr/>
          <p:nvPr/>
        </p:nvSpPr>
        <p:spPr bwMode="auto">
          <a:xfrm>
            <a:off x="7132320" y="19933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Phase 5</a:t>
            </a:r>
            <a:endParaRPr lang="en-US" sz="900"/>
          </a:p>
        </p:txBody>
      </p:sp>
      <p:sp>
        <p:nvSpPr>
          <p:cNvPr id="865635281" name="Text 32"/>
          <p:cNvSpPr/>
          <p:nvPr/>
        </p:nvSpPr>
        <p:spPr bwMode="auto">
          <a:xfrm>
            <a:off x="7132320" y="2240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规模化</a:t>
            </a:r>
            <a:endParaRPr lang="en-US" sz="1200"/>
          </a:p>
        </p:txBody>
      </p:sp>
      <p:sp>
        <p:nvSpPr>
          <p:cNvPr id="55923954" name="Text 33"/>
          <p:cNvSpPr/>
          <p:nvPr/>
        </p:nvSpPr>
        <p:spPr bwMode="auto"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关键里程碑</a:t>
            </a:r>
            <a:endParaRPr lang="en-US" sz="1600"/>
          </a:p>
        </p:txBody>
      </p:sp>
      <p:sp>
        <p:nvSpPr>
          <p:cNvPr id="2021411668" name="Text 34"/>
          <p:cNvSpPr/>
          <p:nvPr/>
        </p:nvSpPr>
        <p:spPr bwMode="auto">
          <a:xfrm>
            <a:off x="731520" y="3337560"/>
            <a:ext cx="731520" cy="30175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M2</a:t>
            </a:r>
            <a:endParaRPr lang="en-US" sz="1000"/>
          </a:p>
        </p:txBody>
      </p:sp>
      <p:sp>
        <p:nvSpPr>
          <p:cNvPr id="1562686522" name="Text 35"/>
          <p:cNvSpPr/>
          <p:nvPr/>
        </p:nvSpPr>
        <p:spPr bwMode="auto">
          <a:xfrm>
            <a:off x="1463040" y="3337560"/>
            <a:ext cx="3200400" cy="30175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10160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内部Alpha版本</a:t>
            </a:r>
            <a:endParaRPr lang="en-US" sz="1000"/>
          </a:p>
        </p:txBody>
      </p:sp>
      <p:sp>
        <p:nvSpPr>
          <p:cNvPr id="1718870815" name="Text 36"/>
          <p:cNvSpPr/>
          <p:nvPr/>
        </p:nvSpPr>
        <p:spPr bwMode="auto">
          <a:xfrm>
            <a:off x="4663440" y="3337560"/>
            <a:ext cx="3749040" cy="30175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10160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核心功能完成</a:t>
            </a:r>
            <a:endParaRPr lang="en-US" sz="1000"/>
          </a:p>
        </p:txBody>
      </p:sp>
      <p:sp>
        <p:nvSpPr>
          <p:cNvPr id="1329206348" name="Text 37"/>
          <p:cNvSpPr/>
          <p:nvPr/>
        </p:nvSpPr>
        <p:spPr bwMode="auto">
          <a:xfrm>
            <a:off x="731520" y="3639312"/>
            <a:ext cx="731520" cy="301752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M4</a:t>
            </a:r>
            <a:endParaRPr lang="en-US" sz="1000"/>
          </a:p>
        </p:txBody>
      </p:sp>
      <p:sp>
        <p:nvSpPr>
          <p:cNvPr id="1375900423" name="Text 38"/>
          <p:cNvSpPr/>
          <p:nvPr/>
        </p:nvSpPr>
        <p:spPr bwMode="auto">
          <a:xfrm>
            <a:off x="1463040" y="3639312"/>
            <a:ext cx="3200400" cy="301752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0" tIns="10160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v1.0正式发布</a:t>
            </a:r>
            <a:endParaRPr lang="en-US" sz="1000"/>
          </a:p>
        </p:txBody>
      </p:sp>
      <p:sp>
        <p:nvSpPr>
          <p:cNvPr id="204965775" name="Text 39"/>
          <p:cNvSpPr/>
          <p:nvPr/>
        </p:nvSpPr>
        <p:spPr bwMode="auto">
          <a:xfrm>
            <a:off x="4663440" y="3639312"/>
            <a:ext cx="3749040" cy="301752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0" tIns="10160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1000+下载量</a:t>
            </a:r>
            <a:endParaRPr lang="en-US" sz="1000"/>
          </a:p>
        </p:txBody>
      </p:sp>
      <p:sp>
        <p:nvSpPr>
          <p:cNvPr id="2100094782" name="Text 40"/>
          <p:cNvSpPr/>
          <p:nvPr/>
        </p:nvSpPr>
        <p:spPr bwMode="auto">
          <a:xfrm>
            <a:off x="731520" y="3941064"/>
            <a:ext cx="731520" cy="30175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M6</a:t>
            </a:r>
            <a:endParaRPr lang="en-US" sz="1000"/>
          </a:p>
        </p:txBody>
      </p:sp>
      <p:sp>
        <p:nvSpPr>
          <p:cNvPr id="1438602939" name="Text 41"/>
          <p:cNvSpPr/>
          <p:nvPr/>
        </p:nvSpPr>
        <p:spPr bwMode="auto">
          <a:xfrm>
            <a:off x="1463040" y="3941064"/>
            <a:ext cx="3200400" cy="30175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10160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运营系统上线</a:t>
            </a:r>
            <a:endParaRPr lang="en-US" sz="1000"/>
          </a:p>
        </p:txBody>
      </p:sp>
      <p:sp>
        <p:nvSpPr>
          <p:cNvPr id="138101610" name="Text 42"/>
          <p:cNvSpPr/>
          <p:nvPr/>
        </p:nvSpPr>
        <p:spPr bwMode="auto">
          <a:xfrm>
            <a:off x="4663440" y="3941064"/>
            <a:ext cx="3749040" cy="30175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10160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1500+MAU</a:t>
            </a:r>
            <a:endParaRPr lang="en-US" sz="1000"/>
          </a:p>
        </p:txBody>
      </p:sp>
      <p:sp>
        <p:nvSpPr>
          <p:cNvPr id="2010994887" name="Text 43"/>
          <p:cNvSpPr/>
          <p:nvPr/>
        </p:nvSpPr>
        <p:spPr bwMode="auto">
          <a:xfrm>
            <a:off x="731520" y="4242816"/>
            <a:ext cx="731520" cy="301752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M8</a:t>
            </a:r>
            <a:endParaRPr lang="en-US" sz="1000"/>
          </a:p>
        </p:txBody>
      </p:sp>
      <p:sp>
        <p:nvSpPr>
          <p:cNvPr id="590810904" name="Text 44"/>
          <p:cNvSpPr/>
          <p:nvPr/>
        </p:nvSpPr>
        <p:spPr bwMode="auto">
          <a:xfrm>
            <a:off x="1463040" y="4242816"/>
            <a:ext cx="3200400" cy="301752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0" tIns="10160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iOS版本上线</a:t>
            </a:r>
            <a:endParaRPr lang="en-US" sz="1000"/>
          </a:p>
        </p:txBody>
      </p:sp>
      <p:sp>
        <p:nvSpPr>
          <p:cNvPr id="1380722536" name="Text 45"/>
          <p:cNvSpPr/>
          <p:nvPr/>
        </p:nvSpPr>
        <p:spPr bwMode="auto">
          <a:xfrm>
            <a:off x="4663440" y="4242816"/>
            <a:ext cx="3749040" cy="301752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0" tIns="10160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App Store审核通过</a:t>
            </a:r>
            <a:endParaRPr lang="en-US" sz="1000"/>
          </a:p>
        </p:txBody>
      </p:sp>
      <p:sp>
        <p:nvSpPr>
          <p:cNvPr id="273282404" name="Text 46"/>
          <p:cNvSpPr/>
          <p:nvPr/>
        </p:nvSpPr>
        <p:spPr bwMode="auto">
          <a:xfrm>
            <a:off x="731520" y="4544568"/>
            <a:ext cx="731520" cy="30175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M9</a:t>
            </a:r>
            <a:endParaRPr lang="en-US" sz="1000"/>
          </a:p>
        </p:txBody>
      </p:sp>
      <p:sp>
        <p:nvSpPr>
          <p:cNvPr id="1344602533" name="Text 47"/>
          <p:cNvSpPr/>
          <p:nvPr/>
        </p:nvSpPr>
        <p:spPr bwMode="auto">
          <a:xfrm>
            <a:off x="1463040" y="4544568"/>
            <a:ext cx="3200400" cy="30175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10160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付费订阅上线</a:t>
            </a:r>
            <a:endParaRPr lang="en-US" sz="1000"/>
          </a:p>
        </p:txBody>
      </p:sp>
      <p:sp>
        <p:nvSpPr>
          <p:cNvPr id="1166719156" name="Text 48"/>
          <p:cNvSpPr/>
          <p:nvPr/>
        </p:nvSpPr>
        <p:spPr bwMode="auto">
          <a:xfrm>
            <a:off x="4663440" y="4544568"/>
            <a:ext cx="3749040" cy="30175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10160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MRR&gt;$1000</a:t>
            </a:r>
            <a:endParaRPr lang="en-US" sz="1000"/>
          </a:p>
        </p:txBody>
      </p:sp>
      <p:sp>
        <p:nvSpPr>
          <p:cNvPr id="579619066" name="Text 49"/>
          <p:cNvSpPr/>
          <p:nvPr/>
        </p:nvSpPr>
        <p:spPr bwMode="auto">
          <a:xfrm>
            <a:off x="731520" y="4846320"/>
            <a:ext cx="731520" cy="301752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M12</a:t>
            </a:r>
            <a:endParaRPr lang="en-US" sz="1000"/>
          </a:p>
        </p:txBody>
      </p:sp>
      <p:sp>
        <p:nvSpPr>
          <p:cNvPr id="1438349092" name="Text 50"/>
          <p:cNvSpPr/>
          <p:nvPr/>
        </p:nvSpPr>
        <p:spPr bwMode="auto">
          <a:xfrm>
            <a:off x="1463040" y="4846320"/>
            <a:ext cx="3200400" cy="301752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0" tIns="10160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年度目标</a:t>
            </a:r>
            <a:endParaRPr lang="en-US" sz="1000"/>
          </a:p>
        </p:txBody>
      </p:sp>
      <p:sp>
        <p:nvSpPr>
          <p:cNvPr id="615433052" name="Text 51"/>
          <p:cNvSpPr/>
          <p:nvPr/>
        </p:nvSpPr>
        <p:spPr bwMode="auto">
          <a:xfrm>
            <a:off x="4663440" y="4846320"/>
            <a:ext cx="3749040" cy="301752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0" tIns="10160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5000+用户, $20K收入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F1F5F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6473652" name="Text 0"/>
          <p:cNvSpPr/>
          <p:nvPr/>
        </p:nvSpPr>
        <p:spPr bwMode="auto"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关键成功指标 (KPI)</a:t>
            </a:r>
            <a:endParaRPr lang="en-US" sz="2800"/>
          </a:p>
        </p:txBody>
      </p:sp>
      <p:sp>
        <p:nvSpPr>
          <p:cNvPr id="183770597" name="Shape 1"/>
          <p:cNvSpPr/>
          <p:nvPr/>
        </p:nvSpPr>
        <p:spPr bwMode="auto">
          <a:xfrm>
            <a:off x="731520" y="804672"/>
            <a:ext cx="1371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225367531" name="Shape 2"/>
          <p:cNvSpPr/>
          <p:nvPr/>
        </p:nvSpPr>
        <p:spPr bwMode="auto">
          <a:xfrm>
            <a:off x="731520" y="105156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1114041829" name="Shape 3"/>
          <p:cNvSpPr/>
          <p:nvPr/>
        </p:nvSpPr>
        <p:spPr bwMode="auto">
          <a:xfrm>
            <a:off x="731520" y="1051560"/>
            <a:ext cx="54864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43800509" name="Text 4"/>
          <p:cNvSpPr/>
          <p:nvPr/>
        </p:nvSpPr>
        <p:spPr bwMode="auto">
          <a:xfrm>
            <a:off x="1005840" y="1097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北极星指标</a:t>
            </a:r>
            <a:endParaRPr lang="en-US" sz="1200"/>
          </a:p>
        </p:txBody>
      </p:sp>
      <p:sp>
        <p:nvSpPr>
          <p:cNvPr id="110167339" name="Text 5"/>
          <p:cNvSpPr/>
          <p:nvPr/>
        </p:nvSpPr>
        <p:spPr bwMode="auto">
          <a:xfrm>
            <a:off x="237744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周活跃学习天数 (Weekly Active Learning Days)</a:t>
            </a:r>
            <a:endParaRPr lang="en-US" sz="1400"/>
          </a:p>
        </p:txBody>
      </p:sp>
      <p:sp>
        <p:nvSpPr>
          <p:cNvPr id="608612120" name="Text 6"/>
          <p:cNvSpPr/>
          <p:nvPr/>
        </p:nvSpPr>
        <p:spPr bwMode="auto">
          <a:xfrm>
            <a:off x="1005840" y="14630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每周至少使用App学习1天的用户数 — 反映真实使用，关联长期留存和付费转化</a:t>
            </a:r>
            <a:endParaRPr lang="en-US" sz="1000"/>
          </a:p>
        </p:txBody>
      </p:sp>
      <p:sp>
        <p:nvSpPr>
          <p:cNvPr id="359702164" name="Shape 7"/>
          <p:cNvSpPr/>
          <p:nvPr/>
        </p:nvSpPr>
        <p:spPr bwMode="auto">
          <a:xfrm>
            <a:off x="731520" y="2103120"/>
            <a:ext cx="187452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250728035" name="Shape 8"/>
          <p:cNvSpPr/>
          <p:nvPr/>
        </p:nvSpPr>
        <p:spPr bwMode="auto">
          <a:xfrm>
            <a:off x="731520" y="2103120"/>
            <a:ext cx="18745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42359412" name="Text 9"/>
          <p:cNvSpPr/>
          <p:nvPr/>
        </p:nvSpPr>
        <p:spPr bwMode="auto">
          <a:xfrm>
            <a:off x="86868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增长指标</a:t>
            </a:r>
            <a:endParaRPr lang="en-US" sz="1300"/>
          </a:p>
        </p:txBody>
      </p:sp>
      <p:sp>
        <p:nvSpPr>
          <p:cNvPr id="871123316" name="Text 10"/>
          <p:cNvSpPr/>
          <p:nvPr/>
        </p:nvSpPr>
        <p:spPr bwMode="auto">
          <a:xfrm>
            <a:off x="868680" y="2606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周新增用户</a:t>
            </a:r>
            <a:endParaRPr lang="en-US" sz="1000"/>
          </a:p>
        </p:txBody>
      </p:sp>
      <p:sp>
        <p:nvSpPr>
          <p:cNvPr id="952752152" name="Text 11"/>
          <p:cNvSpPr/>
          <p:nvPr/>
        </p:nvSpPr>
        <p:spPr bwMode="auto">
          <a:xfrm>
            <a:off x="868680" y="28072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&gt;200</a:t>
            </a:r>
            <a:endParaRPr lang="en-US" sz="1600"/>
          </a:p>
        </p:txBody>
      </p:sp>
      <p:sp>
        <p:nvSpPr>
          <p:cNvPr id="1628625672" name="Text 12"/>
          <p:cNvSpPr/>
          <p:nvPr/>
        </p:nvSpPr>
        <p:spPr bwMode="auto">
          <a:xfrm>
            <a:off x="868680" y="32461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病毒系数(K)</a:t>
            </a:r>
            <a:endParaRPr lang="en-US" sz="1000"/>
          </a:p>
        </p:txBody>
      </p:sp>
      <p:sp>
        <p:nvSpPr>
          <p:cNvPr id="798102481" name="Text 13"/>
          <p:cNvSpPr/>
          <p:nvPr/>
        </p:nvSpPr>
        <p:spPr bwMode="auto">
          <a:xfrm>
            <a:off x="868680" y="34472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&gt;0.3</a:t>
            </a:r>
            <a:endParaRPr lang="en-US" sz="1600"/>
          </a:p>
        </p:txBody>
      </p:sp>
      <p:sp>
        <p:nvSpPr>
          <p:cNvPr id="559873950" name="Text 14"/>
          <p:cNvSpPr/>
          <p:nvPr/>
        </p:nvSpPr>
        <p:spPr bwMode="auto">
          <a:xfrm>
            <a:off x="868680" y="38862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Organic占比</a:t>
            </a:r>
            <a:endParaRPr lang="en-US" sz="1000"/>
          </a:p>
        </p:txBody>
      </p:sp>
      <p:sp>
        <p:nvSpPr>
          <p:cNvPr id="141201862" name="Text 15"/>
          <p:cNvSpPr/>
          <p:nvPr/>
        </p:nvSpPr>
        <p:spPr bwMode="auto">
          <a:xfrm>
            <a:off x="868680" y="40873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&gt;50%</a:t>
            </a:r>
            <a:endParaRPr lang="en-US" sz="1600"/>
          </a:p>
        </p:txBody>
      </p:sp>
      <p:sp>
        <p:nvSpPr>
          <p:cNvPr id="379002899" name="Shape 16"/>
          <p:cNvSpPr/>
          <p:nvPr/>
        </p:nvSpPr>
        <p:spPr bwMode="auto">
          <a:xfrm>
            <a:off x="2788920" y="2103120"/>
            <a:ext cx="187452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271336720" name="Shape 17"/>
          <p:cNvSpPr/>
          <p:nvPr/>
        </p:nvSpPr>
        <p:spPr bwMode="auto">
          <a:xfrm>
            <a:off x="2788920" y="2103120"/>
            <a:ext cx="18745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55562160" name="Text 18"/>
          <p:cNvSpPr/>
          <p:nvPr/>
        </p:nvSpPr>
        <p:spPr bwMode="auto">
          <a:xfrm>
            <a:off x="292608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参与指标</a:t>
            </a:r>
            <a:endParaRPr lang="en-US" sz="1300"/>
          </a:p>
        </p:txBody>
      </p:sp>
      <p:sp>
        <p:nvSpPr>
          <p:cNvPr id="1754322435" name="Text 19"/>
          <p:cNvSpPr/>
          <p:nvPr/>
        </p:nvSpPr>
        <p:spPr bwMode="auto">
          <a:xfrm>
            <a:off x="2926080" y="2606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周学习天数</a:t>
            </a:r>
            <a:endParaRPr lang="en-US" sz="1000"/>
          </a:p>
        </p:txBody>
      </p:sp>
      <p:sp>
        <p:nvSpPr>
          <p:cNvPr id="394817100" name="Text 20"/>
          <p:cNvSpPr/>
          <p:nvPr/>
        </p:nvSpPr>
        <p:spPr bwMode="auto">
          <a:xfrm>
            <a:off x="2926080" y="28072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&gt;3天</a:t>
            </a:r>
            <a:endParaRPr lang="en-US" sz="1600"/>
          </a:p>
        </p:txBody>
      </p:sp>
      <p:sp>
        <p:nvSpPr>
          <p:cNvPr id="374404066" name="Text 21"/>
          <p:cNvSpPr/>
          <p:nvPr/>
        </p:nvSpPr>
        <p:spPr bwMode="auto">
          <a:xfrm>
            <a:off x="2926080" y="32461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每次查询数</a:t>
            </a:r>
            <a:endParaRPr lang="en-US" sz="1000"/>
          </a:p>
        </p:txBody>
      </p:sp>
      <p:sp>
        <p:nvSpPr>
          <p:cNvPr id="1339589680" name="Text 22"/>
          <p:cNvSpPr/>
          <p:nvPr/>
        </p:nvSpPr>
        <p:spPr bwMode="auto">
          <a:xfrm>
            <a:off x="2926080" y="34472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&gt;5次</a:t>
            </a:r>
            <a:endParaRPr lang="en-US" sz="1600"/>
          </a:p>
        </p:txBody>
      </p:sp>
      <p:sp>
        <p:nvSpPr>
          <p:cNvPr id="1857222530" name="Text 23"/>
          <p:cNvSpPr/>
          <p:nvPr/>
        </p:nvSpPr>
        <p:spPr bwMode="auto">
          <a:xfrm>
            <a:off x="2926080" y="38862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生词本添加率</a:t>
            </a:r>
            <a:endParaRPr lang="en-US" sz="1000"/>
          </a:p>
        </p:txBody>
      </p:sp>
      <p:sp>
        <p:nvSpPr>
          <p:cNvPr id="209149782" name="Text 24"/>
          <p:cNvSpPr/>
          <p:nvPr/>
        </p:nvSpPr>
        <p:spPr bwMode="auto">
          <a:xfrm>
            <a:off x="2926080" y="40873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&gt;30%</a:t>
            </a:r>
            <a:endParaRPr lang="en-US" sz="1600"/>
          </a:p>
        </p:txBody>
      </p:sp>
      <p:sp>
        <p:nvSpPr>
          <p:cNvPr id="1799428688" name="Shape 25"/>
          <p:cNvSpPr/>
          <p:nvPr/>
        </p:nvSpPr>
        <p:spPr bwMode="auto">
          <a:xfrm>
            <a:off x="4846320" y="2103120"/>
            <a:ext cx="187452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2135137613" name="Shape 26"/>
          <p:cNvSpPr/>
          <p:nvPr/>
        </p:nvSpPr>
        <p:spPr bwMode="auto">
          <a:xfrm>
            <a:off x="4846320" y="2103120"/>
            <a:ext cx="18745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94640911" name="Text 27"/>
          <p:cNvSpPr/>
          <p:nvPr/>
        </p:nvSpPr>
        <p:spPr bwMode="auto">
          <a:xfrm>
            <a:off x="498348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留存指标</a:t>
            </a:r>
            <a:endParaRPr lang="en-US" sz="1300"/>
          </a:p>
        </p:txBody>
      </p:sp>
      <p:sp>
        <p:nvSpPr>
          <p:cNvPr id="436528525" name="Text 28"/>
          <p:cNvSpPr/>
          <p:nvPr/>
        </p:nvSpPr>
        <p:spPr bwMode="auto">
          <a:xfrm>
            <a:off x="4983480" y="2606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次日留存</a:t>
            </a:r>
            <a:endParaRPr lang="en-US" sz="1000"/>
          </a:p>
        </p:txBody>
      </p:sp>
      <p:sp>
        <p:nvSpPr>
          <p:cNvPr id="36067871" name="Text 29"/>
          <p:cNvSpPr/>
          <p:nvPr/>
        </p:nvSpPr>
        <p:spPr bwMode="auto">
          <a:xfrm>
            <a:off x="4983480" y="28072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&gt;40%</a:t>
            </a:r>
            <a:endParaRPr lang="en-US" sz="1600"/>
          </a:p>
        </p:txBody>
      </p:sp>
      <p:sp>
        <p:nvSpPr>
          <p:cNvPr id="1279903893" name="Text 30"/>
          <p:cNvSpPr/>
          <p:nvPr/>
        </p:nvSpPr>
        <p:spPr bwMode="auto">
          <a:xfrm>
            <a:off x="4983480" y="32461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7日留存</a:t>
            </a:r>
            <a:endParaRPr lang="en-US" sz="1000"/>
          </a:p>
        </p:txBody>
      </p:sp>
      <p:sp>
        <p:nvSpPr>
          <p:cNvPr id="869523768" name="Text 31"/>
          <p:cNvSpPr/>
          <p:nvPr/>
        </p:nvSpPr>
        <p:spPr bwMode="auto">
          <a:xfrm>
            <a:off x="4983480" y="34472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&gt;25%</a:t>
            </a:r>
            <a:endParaRPr lang="en-US" sz="1600"/>
          </a:p>
        </p:txBody>
      </p:sp>
      <p:sp>
        <p:nvSpPr>
          <p:cNvPr id="691557959" name="Text 32"/>
          <p:cNvSpPr/>
          <p:nvPr/>
        </p:nvSpPr>
        <p:spPr bwMode="auto">
          <a:xfrm>
            <a:off x="4983480" y="38862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30日留存</a:t>
            </a:r>
            <a:endParaRPr lang="en-US" sz="1000"/>
          </a:p>
        </p:txBody>
      </p:sp>
      <p:sp>
        <p:nvSpPr>
          <p:cNvPr id="903428874" name="Text 33"/>
          <p:cNvSpPr/>
          <p:nvPr/>
        </p:nvSpPr>
        <p:spPr bwMode="auto">
          <a:xfrm>
            <a:off x="4983480" y="40873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&gt;15%</a:t>
            </a:r>
            <a:endParaRPr lang="en-US" sz="1600"/>
          </a:p>
        </p:txBody>
      </p:sp>
      <p:sp>
        <p:nvSpPr>
          <p:cNvPr id="111994278" name="Shape 34"/>
          <p:cNvSpPr/>
          <p:nvPr/>
        </p:nvSpPr>
        <p:spPr bwMode="auto">
          <a:xfrm>
            <a:off x="6903720" y="2103120"/>
            <a:ext cx="187452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1099001470" name="Shape 35"/>
          <p:cNvSpPr/>
          <p:nvPr/>
        </p:nvSpPr>
        <p:spPr bwMode="auto">
          <a:xfrm>
            <a:off x="6903720" y="2103120"/>
            <a:ext cx="187452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81585729" name="Text 36"/>
          <p:cNvSpPr/>
          <p:nvPr/>
        </p:nvSpPr>
        <p:spPr bwMode="auto">
          <a:xfrm>
            <a:off x="704088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营收指标</a:t>
            </a:r>
            <a:endParaRPr lang="en-US" sz="1300"/>
          </a:p>
        </p:txBody>
      </p:sp>
      <p:sp>
        <p:nvSpPr>
          <p:cNvPr id="439535524" name="Text 37"/>
          <p:cNvSpPr/>
          <p:nvPr/>
        </p:nvSpPr>
        <p:spPr bwMode="auto">
          <a:xfrm>
            <a:off x="7040880" y="2606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付费转化率</a:t>
            </a:r>
            <a:endParaRPr lang="en-US" sz="1000"/>
          </a:p>
        </p:txBody>
      </p:sp>
      <p:sp>
        <p:nvSpPr>
          <p:cNvPr id="1296208022" name="Text 38"/>
          <p:cNvSpPr/>
          <p:nvPr/>
        </p:nvSpPr>
        <p:spPr bwMode="auto">
          <a:xfrm>
            <a:off x="7040880" y="28072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&gt;5%</a:t>
            </a:r>
            <a:endParaRPr lang="en-US" sz="1600"/>
          </a:p>
        </p:txBody>
      </p:sp>
      <p:sp>
        <p:nvSpPr>
          <p:cNvPr id="213353060" name="Text 39"/>
          <p:cNvSpPr/>
          <p:nvPr/>
        </p:nvSpPr>
        <p:spPr bwMode="auto">
          <a:xfrm>
            <a:off x="7040880" y="32461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LTV/CAC</a:t>
            </a:r>
            <a:endParaRPr lang="en-US" sz="1000"/>
          </a:p>
        </p:txBody>
      </p:sp>
      <p:sp>
        <p:nvSpPr>
          <p:cNvPr id="804201511" name="Text 40"/>
          <p:cNvSpPr/>
          <p:nvPr/>
        </p:nvSpPr>
        <p:spPr bwMode="auto">
          <a:xfrm>
            <a:off x="7040880" y="34472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&gt;3:1</a:t>
            </a:r>
            <a:endParaRPr lang="en-US" sz="1600"/>
          </a:p>
        </p:txBody>
      </p:sp>
      <p:sp>
        <p:nvSpPr>
          <p:cNvPr id="836088569" name="Text 41"/>
          <p:cNvSpPr/>
          <p:nvPr/>
        </p:nvSpPr>
        <p:spPr bwMode="auto">
          <a:xfrm>
            <a:off x="7040880" y="38862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月流失率</a:t>
            </a:r>
            <a:endParaRPr lang="en-US" sz="1000"/>
          </a:p>
        </p:txBody>
      </p:sp>
      <p:sp>
        <p:nvSpPr>
          <p:cNvPr id="1180460310" name="Text 42"/>
          <p:cNvSpPr/>
          <p:nvPr/>
        </p:nvSpPr>
        <p:spPr bwMode="auto">
          <a:xfrm>
            <a:off x="7040880" y="40873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&lt;5%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401186" name="Text 0"/>
          <p:cNvSpPr/>
          <p:nvPr/>
        </p:nvSpPr>
        <p:spPr bwMode="auto"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风险评估与缓解</a:t>
            </a:r>
            <a:endParaRPr lang="en-US" sz="2800"/>
          </a:p>
        </p:txBody>
      </p:sp>
      <p:sp>
        <p:nvSpPr>
          <p:cNvPr id="799319624" name="Shape 1"/>
          <p:cNvSpPr/>
          <p:nvPr/>
        </p:nvSpPr>
        <p:spPr bwMode="auto">
          <a:xfrm>
            <a:off x="731520" y="804672"/>
            <a:ext cx="1371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graphicFrame>
        <p:nvGraphicFramePr>
          <p:cNvPr id="528991408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005840"/>
          <a:ext cx="822960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645920"/>
                <a:gridCol w="640080"/>
                <a:gridCol w="640080"/>
                <a:gridCol w="640080"/>
                <a:gridCol w="4663440"/>
              </a:tblGrid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风险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概率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影响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等级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缓解措施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</a:rPr>
                        <a:t>DeepSeek API服务中断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中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高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</a:rPr>
                        <a:t>高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本地缓存 + 备用API + 离线词典兆底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</a:rPr>
                        <a:t>用户获取困难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中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高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</a:rPr>
                        <a:t>高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社区推广 + 免费策略 + 口碑传播激励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</a:rPr>
                        <a:t>巨头推出竞品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低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高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</a:rPr>
                        <a:t>中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快速迭代建立壁垒 + 专注细分市场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</a:rPr>
                        <a:t>AI API成本超预期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中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中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</a:rPr>
                        <a:t>中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限制免费额度 + 优化提示词 + 提前付费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</a:rPr>
                        <a:t>用户数据泄露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低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高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</a:rPr>
                        <a:t>中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本地存储优先 + 最小化数据 + 加密传输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</a:rPr>
                        <a:t>App Store审核被拒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低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中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</a:rPr>
                        <a:t>低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00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</a:rPr>
                        <a:t>采用DMG直接分发 + 隐私合规设计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28358917" name="Text 2"/>
          <p:cNvSpPr/>
          <p:nvPr/>
        </p:nvSpPr>
        <p:spPr bwMode="auto">
          <a:xfrm>
            <a:off x="731520" y="4251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应急预案</a:t>
            </a:r>
            <a:endParaRPr lang="en-US" sz="1400"/>
          </a:p>
        </p:txBody>
      </p:sp>
      <p:sp>
        <p:nvSpPr>
          <p:cNvPr id="1580815012" name="Shape 3"/>
          <p:cNvSpPr/>
          <p:nvPr/>
        </p:nvSpPr>
        <p:spPr bwMode="auto">
          <a:xfrm>
            <a:off x="731520" y="4572000"/>
            <a:ext cx="256032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896746293" name="Text 4"/>
          <p:cNvSpPr/>
          <p:nvPr/>
        </p:nvSpPr>
        <p:spPr bwMode="auto">
          <a:xfrm>
            <a:off x="822960" y="4572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API连续24h不可用 → 自动切换备用API + 启用本地词典</a:t>
            </a:r>
            <a:endParaRPr lang="en-US" sz="800"/>
          </a:p>
        </p:txBody>
      </p:sp>
      <p:sp>
        <p:nvSpPr>
          <p:cNvPr id="816677524" name="Shape 5"/>
          <p:cNvSpPr/>
          <p:nvPr/>
        </p:nvSpPr>
        <p:spPr bwMode="auto">
          <a:xfrm>
            <a:off x="3520440" y="4572000"/>
            <a:ext cx="256032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359861631" name="Text 6"/>
          <p:cNvSpPr/>
          <p:nvPr/>
        </p:nvSpPr>
        <p:spPr bwMode="auto">
          <a:xfrm>
            <a:off x="3611880" y="4572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3个月DAU&lt;100 → 免费策略延长 + 加大社区推广</a:t>
            </a:r>
            <a:endParaRPr lang="en-US" sz="800"/>
          </a:p>
        </p:txBody>
      </p:sp>
      <p:sp>
        <p:nvSpPr>
          <p:cNvPr id="470224275" name="Shape 7"/>
          <p:cNvSpPr/>
          <p:nvPr/>
        </p:nvSpPr>
        <p:spPr bwMode="auto">
          <a:xfrm>
            <a:off x="6309360" y="4572000"/>
            <a:ext cx="256032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821897620" name="Text 8"/>
          <p:cNvSpPr/>
          <p:nvPr/>
        </p:nvSpPr>
        <p:spPr bwMode="auto">
          <a:xfrm>
            <a:off x="6400800" y="4572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月API费用&gt;$500 → 紧急限流 + 提前推出付费版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6885418" name="Text 0"/>
          <p:cNvSpPr/>
          <p:nvPr/>
        </p:nvSpPr>
        <p:spPr bwMode="auto"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投资建议与结论</a:t>
            </a:r>
            <a:endParaRPr lang="en-US" sz="2800"/>
          </a:p>
        </p:txBody>
      </p:sp>
      <p:sp>
        <p:nvSpPr>
          <p:cNvPr id="1913728463" name="Shape 1"/>
          <p:cNvSpPr/>
          <p:nvPr/>
        </p:nvSpPr>
        <p:spPr bwMode="auto">
          <a:xfrm>
            <a:off x="731520" y="804672"/>
            <a:ext cx="1371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811383174" name="Shape 2"/>
          <p:cNvSpPr/>
          <p:nvPr/>
        </p:nvSpPr>
        <p:spPr bwMode="auto">
          <a:xfrm>
            <a:off x="731520" y="1051560"/>
            <a:ext cx="7680960" cy="914400"/>
          </a:xfrm>
          <a:prstGeom prst="rect">
            <a:avLst/>
          </a:prstGeom>
          <a:solidFill>
            <a:srgbClr val="042F2E"/>
          </a:solidFill>
          <a:ln/>
        </p:spPr>
      </p:sp>
      <p:sp>
        <p:nvSpPr>
          <p:cNvPr id="87887383" name="Text 3"/>
          <p:cNvSpPr/>
          <p:nvPr/>
        </p:nvSpPr>
        <p:spPr bwMode="auto">
          <a:xfrm>
            <a:off x="731520" y="10515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投资建议： </a:t>
            </a:r>
            <a:r>
              <a:rPr lang="en-US" sz="2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强烈推荐实施</a:t>
            </a:r>
            <a:endParaRPr lang="en-US" sz="1800"/>
          </a:p>
        </p:txBody>
      </p:sp>
      <p:sp>
        <p:nvSpPr>
          <p:cNvPr id="1728568508" name="Shape 4"/>
          <p:cNvSpPr/>
          <p:nvPr/>
        </p:nvSpPr>
        <p:spPr bwMode="auto">
          <a:xfrm>
            <a:off x="731520" y="2194560"/>
            <a:ext cx="256032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41545909" name="Shape 5"/>
          <p:cNvSpPr/>
          <p:nvPr/>
        </p:nvSpPr>
        <p:spPr bwMode="auto">
          <a:xfrm>
            <a:off x="731520" y="2194560"/>
            <a:ext cx="25603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59831283" name="Text 6"/>
          <p:cNvSpPr/>
          <p:nvPr/>
        </p:nvSpPr>
        <p:spPr bwMode="auto">
          <a:xfrm>
            <a:off x="868680" y="2286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最小可行投入</a:t>
            </a:r>
            <a:endParaRPr lang="en-US" sz="1100"/>
          </a:p>
        </p:txBody>
      </p:sp>
      <p:sp>
        <p:nvSpPr>
          <p:cNvPr id="267348891" name="Text 7"/>
          <p:cNvSpPr/>
          <p:nvPr/>
        </p:nvSpPr>
        <p:spPr bwMode="auto">
          <a:xfrm>
            <a:off x="868680" y="2514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$5,000</a:t>
            </a:r>
            <a:endParaRPr lang="en-US" sz="2800"/>
          </a:p>
        </p:txBody>
      </p:sp>
      <p:sp>
        <p:nvSpPr>
          <p:cNvPr id="1483196507" name="Text 8"/>
          <p:cNvSpPr/>
          <p:nvPr/>
        </p:nvSpPr>
        <p:spPr bwMode="auto">
          <a:xfrm>
            <a:off x="86868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覆盖6个月运营成本</a:t>
            </a:r>
            <a:endParaRPr lang="en-US" sz="1000"/>
          </a:p>
        </p:txBody>
      </p:sp>
      <p:sp>
        <p:nvSpPr>
          <p:cNvPr id="2091742543" name="Shape 9"/>
          <p:cNvSpPr/>
          <p:nvPr/>
        </p:nvSpPr>
        <p:spPr bwMode="auto">
          <a:xfrm>
            <a:off x="3520440" y="2194560"/>
            <a:ext cx="256032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04076812" name="Shape 10"/>
          <p:cNvSpPr/>
          <p:nvPr/>
        </p:nvSpPr>
        <p:spPr bwMode="auto">
          <a:xfrm>
            <a:off x="3520440" y="2194560"/>
            <a:ext cx="25603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06725404" name="Text 11"/>
          <p:cNvSpPr/>
          <p:nvPr/>
        </p:nvSpPr>
        <p:spPr bwMode="auto">
          <a:xfrm>
            <a:off x="3657600" y="2286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建议投入</a:t>
            </a:r>
            <a:endParaRPr lang="en-US" sz="1100"/>
          </a:p>
        </p:txBody>
      </p:sp>
      <p:sp>
        <p:nvSpPr>
          <p:cNvPr id="1431813377" name="Text 12"/>
          <p:cNvSpPr/>
          <p:nvPr/>
        </p:nvSpPr>
        <p:spPr bwMode="auto">
          <a:xfrm>
            <a:off x="3657600" y="2514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$15,000</a:t>
            </a:r>
            <a:endParaRPr lang="en-US" sz="2800"/>
          </a:p>
        </p:txBody>
      </p:sp>
      <p:sp>
        <p:nvSpPr>
          <p:cNvPr id="2112718660" name="Text 13"/>
          <p:cNvSpPr/>
          <p:nvPr/>
        </p:nvSpPr>
        <p:spPr bwMode="auto">
          <a:xfrm>
            <a:off x="365760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覆盖1年运营+小幅推广</a:t>
            </a:r>
            <a:endParaRPr lang="en-US" sz="1000"/>
          </a:p>
        </p:txBody>
      </p:sp>
      <p:sp>
        <p:nvSpPr>
          <p:cNvPr id="1146263688" name="Shape 14"/>
          <p:cNvSpPr/>
          <p:nvPr/>
        </p:nvSpPr>
        <p:spPr bwMode="auto">
          <a:xfrm>
            <a:off x="6309360" y="2194560"/>
            <a:ext cx="256032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41962006" name="Shape 15"/>
          <p:cNvSpPr/>
          <p:nvPr/>
        </p:nvSpPr>
        <p:spPr bwMode="auto">
          <a:xfrm>
            <a:off x="6309360" y="2194560"/>
            <a:ext cx="25603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50758073" name="Text 16"/>
          <p:cNvSpPr/>
          <p:nvPr/>
        </p:nvSpPr>
        <p:spPr bwMode="auto">
          <a:xfrm>
            <a:off x="6446520" y="2286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乐观投入</a:t>
            </a:r>
            <a:endParaRPr lang="en-US" sz="1100"/>
          </a:p>
        </p:txBody>
      </p:sp>
      <p:sp>
        <p:nvSpPr>
          <p:cNvPr id="1277733520" name="Text 17"/>
          <p:cNvSpPr/>
          <p:nvPr/>
        </p:nvSpPr>
        <p:spPr bwMode="auto">
          <a:xfrm>
            <a:off x="6446520" y="2514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$30,000</a:t>
            </a:r>
            <a:endParaRPr lang="en-US" sz="2800"/>
          </a:p>
        </p:txBody>
      </p:sp>
      <p:sp>
        <p:nvSpPr>
          <p:cNvPr id="276248460" name="Text 18"/>
          <p:cNvSpPr/>
          <p:nvPr/>
        </p:nvSpPr>
        <p:spPr bwMode="auto">
          <a:xfrm>
            <a:off x="644652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覆盖1年运营+产品开发+推广</a:t>
            </a:r>
            <a:endParaRPr lang="en-US" sz="1000"/>
          </a:p>
        </p:txBody>
      </p:sp>
      <p:sp>
        <p:nvSpPr>
          <p:cNvPr id="1755024663" name="Text 19"/>
          <p:cNvSpPr/>
          <p:nvPr/>
        </p:nvSpPr>
        <p:spPr bwMode="auto">
          <a:xfrm>
            <a:off x="731520" y="3520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投资回报预期</a:t>
            </a:r>
            <a:endParaRPr lang="en-US" sz="1400"/>
          </a:p>
        </p:txBody>
      </p:sp>
      <p:sp>
        <p:nvSpPr>
          <p:cNvPr id="1609079717" name="Shape 20"/>
          <p:cNvSpPr/>
          <p:nvPr/>
        </p:nvSpPr>
        <p:spPr bwMode="auto">
          <a:xfrm>
            <a:off x="731520" y="3840480"/>
            <a:ext cx="37490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2541284" name="Text 21"/>
          <p:cNvSpPr/>
          <p:nvPr/>
        </p:nvSpPr>
        <p:spPr bwMode="auto">
          <a:xfrm>
            <a:off x="731520" y="38404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保守场景</a:t>
            </a:r>
            <a:b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</a:br>
            <a:endParaRPr lang="en-US" sz="1000"/>
          </a:p>
          <a:p>
            <a:pPr marL="0" indent="0" algn="ctr">
              <a:buNone/>
              <a:defRPr/>
            </a:pPr>
            <a:r>
              <a:rPr lang="en-US" sz="1400" b="1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18个月回本，3年ROI 300%</a:t>
            </a:r>
            <a:endParaRPr lang="en-US" sz="1000"/>
          </a:p>
        </p:txBody>
      </p:sp>
      <p:sp>
        <p:nvSpPr>
          <p:cNvPr id="249714923" name="Shape 22"/>
          <p:cNvSpPr/>
          <p:nvPr/>
        </p:nvSpPr>
        <p:spPr bwMode="auto">
          <a:xfrm>
            <a:off x="4663440" y="3840480"/>
            <a:ext cx="37490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75616832" name="Text 23"/>
          <p:cNvSpPr/>
          <p:nvPr/>
        </p:nvSpPr>
        <p:spPr bwMode="auto">
          <a:xfrm>
            <a:off x="4663440" y="38404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乐观场景</a:t>
            </a:r>
            <a:b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</a:br>
            <a:endParaRPr lang="en-US" sz="1000"/>
          </a:p>
          <a:p>
            <a:pPr marL="0" indent="0" algn="ctr">
              <a:buNone/>
              <a:defRPr/>
            </a:pPr>
            <a:r>
              <a:rPr lang="en-US" sz="14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12个月回本，3年ROI 1000%+</a:t>
            </a:r>
            <a:endParaRPr lang="en-US" sz="1000"/>
          </a:p>
        </p:txBody>
      </p:sp>
      <p:sp>
        <p:nvSpPr>
          <p:cNvPr id="1259876908" name="Shape 24"/>
          <p:cNvSpPr/>
          <p:nvPr/>
        </p:nvSpPr>
        <p:spPr bwMode="auto">
          <a:xfrm>
            <a:off x="731520" y="4663440"/>
            <a:ext cx="1499616" cy="41148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1435414001" name="Text 25"/>
          <p:cNvSpPr/>
          <p:nvPr/>
        </p:nvSpPr>
        <p:spPr bwMode="auto">
          <a:xfrm>
            <a:off x="731520" y="466344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市场可行性  5/5</a:t>
            </a:r>
            <a:endParaRPr lang="en-US" sz="900"/>
          </a:p>
        </p:txBody>
      </p:sp>
      <p:sp>
        <p:nvSpPr>
          <p:cNvPr id="1933998877" name="Shape 26"/>
          <p:cNvSpPr/>
          <p:nvPr/>
        </p:nvSpPr>
        <p:spPr bwMode="auto">
          <a:xfrm>
            <a:off x="2414016" y="4663440"/>
            <a:ext cx="1499616" cy="41148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1038316541" name="Text 27"/>
          <p:cNvSpPr/>
          <p:nvPr/>
        </p:nvSpPr>
        <p:spPr bwMode="auto">
          <a:xfrm>
            <a:off x="2414016" y="466344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技术可行性  5/5</a:t>
            </a:r>
            <a:endParaRPr lang="en-US" sz="900"/>
          </a:p>
        </p:txBody>
      </p:sp>
      <p:sp>
        <p:nvSpPr>
          <p:cNvPr id="2071373752" name="Shape 28"/>
          <p:cNvSpPr/>
          <p:nvPr/>
        </p:nvSpPr>
        <p:spPr bwMode="auto">
          <a:xfrm>
            <a:off x="4096512" y="4663440"/>
            <a:ext cx="1499616" cy="41148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1932593698" name="Text 29"/>
          <p:cNvSpPr/>
          <p:nvPr/>
        </p:nvSpPr>
        <p:spPr bwMode="auto">
          <a:xfrm>
            <a:off x="4096512" y="466344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财务可行性  4/5</a:t>
            </a:r>
            <a:endParaRPr lang="en-US" sz="900"/>
          </a:p>
        </p:txBody>
      </p:sp>
      <p:sp>
        <p:nvSpPr>
          <p:cNvPr id="924940627" name="Shape 30"/>
          <p:cNvSpPr/>
          <p:nvPr/>
        </p:nvSpPr>
        <p:spPr bwMode="auto">
          <a:xfrm>
            <a:off x="5779008" y="4663440"/>
            <a:ext cx="1499616" cy="41148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939897550" name="Text 31"/>
          <p:cNvSpPr/>
          <p:nvPr/>
        </p:nvSpPr>
        <p:spPr bwMode="auto">
          <a:xfrm>
            <a:off x="5779008" y="466344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运营可行性  4/5</a:t>
            </a:r>
            <a:endParaRPr lang="en-US" sz="900"/>
          </a:p>
        </p:txBody>
      </p:sp>
      <p:sp>
        <p:nvSpPr>
          <p:cNvPr id="914663664" name="Shape 32"/>
          <p:cNvSpPr/>
          <p:nvPr/>
        </p:nvSpPr>
        <p:spPr bwMode="auto">
          <a:xfrm>
            <a:off x="7461504" y="4663440"/>
            <a:ext cx="1499616" cy="41148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756844633" name="Text 33"/>
          <p:cNvSpPr/>
          <p:nvPr/>
        </p:nvSpPr>
        <p:spPr bwMode="auto">
          <a:xfrm>
            <a:off x="7461504" y="466344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风险可控性  4/5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26896" name="Text 0"/>
          <p:cNvSpPr/>
          <p:nvPr/>
        </p:nvSpPr>
        <p:spPr bwMode="auto"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zh-Hans" sz="2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Demo </a:t>
            </a:r>
            <a:endParaRPr lang="en-US" sz="2800"/>
          </a:p>
        </p:txBody>
      </p:sp>
      <p:sp>
        <p:nvSpPr>
          <p:cNvPr id="494373580" name="Shape 1"/>
          <p:cNvSpPr/>
          <p:nvPr/>
        </p:nvSpPr>
        <p:spPr bwMode="auto">
          <a:xfrm>
            <a:off x="731520" y="804672"/>
            <a:ext cx="1371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pic>
        <p:nvPicPr>
          <p:cNvPr id="39110386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53730" y="1082697"/>
            <a:ext cx="4971137" cy="3594830"/>
          </a:xfrm>
          <a:prstGeom prst="rect">
            <a:avLst/>
          </a:prstGeom>
        </p:spPr>
      </p:pic>
      <p:pic>
        <p:nvPicPr>
          <p:cNvPr id="68940687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968078" y="320040"/>
            <a:ext cx="2307588" cy="4060801"/>
          </a:xfrm>
          <a:prstGeom prst="rect">
            <a:avLst/>
          </a:prstGeom>
        </p:spPr>
      </p:pic>
      <p:sp>
        <p:nvSpPr>
          <p:cNvPr id="75683716" name=""/>
          <p:cNvSpPr txBox="1"/>
          <p:nvPr/>
        </p:nvSpPr>
        <p:spPr bwMode="auto">
          <a:xfrm rot="0" flipH="0" flipV="0">
            <a:off x="2447050" y="4609441"/>
            <a:ext cx="86939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Hans">
                <a:solidFill>
                  <a:schemeClr val="bg1"/>
                </a:solidFill>
              </a:rPr>
              <a:t>主界面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923443903" name=""/>
          <p:cNvSpPr txBox="1"/>
          <p:nvPr/>
        </p:nvSpPr>
        <p:spPr bwMode="auto">
          <a:xfrm rot="0" flipH="0" flipV="0">
            <a:off x="6687174" y="4606381"/>
            <a:ext cx="109799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Hans">
                <a:solidFill>
                  <a:schemeClr val="bg1"/>
                </a:solidFill>
              </a:rPr>
              <a:t>浮窗取词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7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71063" name="Shape 0"/>
          <p:cNvSpPr/>
          <p:nvPr/>
        </p:nvSpPr>
        <p:spPr bwMode="auto"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01125183" name="Text 1"/>
          <p:cNvSpPr/>
          <p:nvPr/>
        </p:nvSpPr>
        <p:spPr bwMode="auto"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4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Thank You</a:t>
            </a:r>
            <a:endParaRPr lang="en-US" sz="4800"/>
          </a:p>
        </p:txBody>
      </p:sp>
      <p:sp>
        <p:nvSpPr>
          <p:cNvPr id="1039620540" name="Text 2"/>
          <p:cNvSpPr/>
          <p:nvPr/>
        </p:nvSpPr>
        <p:spPr bwMode="auto"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感谢您的时间</a:t>
            </a:r>
            <a:endParaRPr lang="en-US" sz="2000"/>
          </a:p>
        </p:txBody>
      </p:sp>
      <p:sp>
        <p:nvSpPr>
          <p:cNvPr id="38800987" name="Shape 3"/>
          <p:cNvSpPr/>
          <p:nvPr/>
        </p:nvSpPr>
        <p:spPr bwMode="auto">
          <a:xfrm>
            <a:off x="3200400" y="2926080"/>
            <a:ext cx="27432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559559059" name="Text 4"/>
          <p:cNvSpPr/>
          <p:nvPr/>
        </p:nvSpPr>
        <p:spPr bwMode="auto"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AI English Dictionary</a:t>
            </a:r>
            <a:endParaRPr lang="en-US" sz="1600"/>
          </a:p>
        </p:txBody>
      </p:sp>
      <p:sp>
        <p:nvSpPr>
          <p:cNvPr id="1066650069" name="Text 5"/>
          <p:cNvSpPr/>
          <p:nvPr/>
        </p:nvSpPr>
        <p:spPr bwMode="auto"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Learn without translations</a:t>
            </a:r>
            <a:endParaRPr lang="en-US" sz="1400"/>
          </a:p>
        </p:txBody>
      </p:sp>
      <p:sp>
        <p:nvSpPr>
          <p:cNvPr id="1062017341" name="Shape 6"/>
          <p:cNvSpPr/>
          <p:nvPr/>
        </p:nvSpPr>
        <p:spPr bwMode="auto">
          <a:xfrm>
            <a:off x="0" y="4892039"/>
            <a:ext cx="9144000" cy="251460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18</Slides>
  <Notes>18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English Dictionary - Feasibility Analysis</dc:title>
  <dc:subject>PptxGenJS Presentation</dc:subject>
  <dc:creator>AI English Dictionary Team</dc:creator>
  <cp:lastModifiedBy/>
  <cp:revision>2</cp:revision>
  <dcterms:created xsi:type="dcterms:W3CDTF">2026-04-13T14:42:09Z</dcterms:created>
  <dcterms:modified xsi:type="dcterms:W3CDTF">2026-04-13T14:50:32Z</dcterms:modified>
</cp:coreProperties>
</file>